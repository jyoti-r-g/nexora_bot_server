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sldIdLst>
    <p:sldId id="2147471386" r:id="rId5"/>
    <p:sldId id="2147471448" r:id="rId6"/>
    <p:sldId id="2147471452" r:id="rId7"/>
    <p:sldId id="2147471459" r:id="rId8"/>
    <p:sldId id="2147471456" r:id="rId9"/>
    <p:sldId id="2147471416" r:id="rId10"/>
    <p:sldId id="2147471454" r:id="rId11"/>
    <p:sldId id="214747145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7BE9660-251B-3A70-CEFE-DCFD817E3330}" name="Alankar Mandava" initials="AM" userId="S::Alankar.m@pravaltech.com::a379b452-3e61-458d-9781-040d6b8954a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435B94-0340-336F-2E99-24E0F49FE69C}" v="3" dt="2026-02-18T07:08:56.832"/>
    <p1510:client id="{753C97F0-46C0-22E4-B7AD-66E7F107B14F}" v="9" dt="2026-02-18T07:08:24.7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rza Baig" userId="S::mirza.b@pravaltech.com::c29ee314-db1d-44aa-84e8-5c34cecc474e" providerId="AD" clId="Web-{753C97F0-46C0-22E4-B7AD-66E7F107B14F}"/>
    <pc:docChg chg="modSld">
      <pc:chgData name="Mirza Baig" userId="S::mirza.b@pravaltech.com::c29ee314-db1d-44aa-84e8-5c34cecc474e" providerId="AD" clId="Web-{753C97F0-46C0-22E4-B7AD-66E7F107B14F}" dt="2026-02-18T07:08:24.732" v="8" actId="14100"/>
      <pc:docMkLst>
        <pc:docMk/>
      </pc:docMkLst>
      <pc:sldChg chg="modSp">
        <pc:chgData name="Mirza Baig" userId="S::mirza.b@pravaltech.com::c29ee314-db1d-44aa-84e8-5c34cecc474e" providerId="AD" clId="Web-{753C97F0-46C0-22E4-B7AD-66E7F107B14F}" dt="2026-02-18T07:08:24.732" v="8" actId="14100"/>
        <pc:sldMkLst>
          <pc:docMk/>
          <pc:sldMk cId="1710917975" sldId="2147471416"/>
        </pc:sldMkLst>
        <pc:picChg chg="mod">
          <ac:chgData name="Mirza Baig" userId="S::mirza.b@pravaltech.com::c29ee314-db1d-44aa-84e8-5c34cecc474e" providerId="AD" clId="Web-{753C97F0-46C0-22E4-B7AD-66E7F107B14F}" dt="2026-02-18T07:08:24.732" v="8" actId="14100"/>
          <ac:picMkLst>
            <pc:docMk/>
            <pc:sldMk cId="1710917975" sldId="2147471416"/>
            <ac:picMk id="11" creationId="{817FAA45-0A52-65C9-9777-577259834DBD}"/>
          </ac:picMkLst>
        </pc:picChg>
      </pc:sldChg>
    </pc:docChg>
  </pc:docChgLst>
  <pc:docChgLst>
    <pc:chgData name="Mirza Baig" userId="S::mirza.b@pravaltech.com::c29ee314-db1d-44aa-84e8-5c34cecc474e" providerId="AD" clId="Web-{3D435B94-0340-336F-2E99-24E0F49FE69C}"/>
    <pc:docChg chg="modSld">
      <pc:chgData name="Mirza Baig" userId="S::mirza.b@pravaltech.com::c29ee314-db1d-44aa-84e8-5c34cecc474e" providerId="AD" clId="Web-{3D435B94-0340-336F-2E99-24E0F49FE69C}" dt="2026-02-18T07:08:56.832" v="2" actId="1076"/>
      <pc:docMkLst>
        <pc:docMk/>
      </pc:docMkLst>
      <pc:sldChg chg="modSp">
        <pc:chgData name="Mirza Baig" userId="S::mirza.b@pravaltech.com::c29ee314-db1d-44aa-84e8-5c34cecc474e" providerId="AD" clId="Web-{3D435B94-0340-336F-2E99-24E0F49FE69C}" dt="2026-02-18T07:08:56.832" v="2" actId="1076"/>
        <pc:sldMkLst>
          <pc:docMk/>
          <pc:sldMk cId="1710917975" sldId="2147471416"/>
        </pc:sldMkLst>
        <pc:picChg chg="mod">
          <ac:chgData name="Mirza Baig" userId="S::mirza.b@pravaltech.com::c29ee314-db1d-44aa-84e8-5c34cecc474e" providerId="AD" clId="Web-{3D435B94-0340-336F-2E99-24E0F49FE69C}" dt="2026-02-18T07:08:56.832" v="2" actId="1076"/>
          <ac:picMkLst>
            <pc:docMk/>
            <pc:sldMk cId="1710917975" sldId="2147471416"/>
            <ac:picMk id="11" creationId="{817FAA45-0A52-65C9-9777-577259834DB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522A1C-5EF9-44C7-B782-744BB637D37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3B176D-5E0E-4262-A7E0-0BE898967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551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EEED9-14F8-6EA4-D7CD-8E63822DE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608E34-5E9A-DE93-C5D0-65EC969D2C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361049-59A2-54C2-6351-5AA6798BE3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D476C-9BAF-A10C-A38A-E537799C3D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87FA6C-A05F-5649-A6F3-1A1F0492C9D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7079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AA6F4-4D39-2A8B-28D3-54499F12A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E3F52C-7DE0-955C-CCA9-F30C2BC98E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952231-9C82-59E8-689A-D23A6FEB56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E0C5E-71DB-3074-862B-D8929412BF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6721FB-33BC-2E4E-824A-CCED70B282D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68773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011D2-28BD-EE35-C290-5C7013703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44144D-B6F2-D368-73DC-65AC0CAB6D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4E8527-F0C3-970D-3828-6C1A7C95DE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E6030-A4F5-5323-46D7-34418430C7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6721FB-33BC-2E4E-824A-CCED70B282D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0825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33133-A5CB-533E-28BC-15E278305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652D9B-BA62-832F-903A-1C6CC5C79F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65776F-72F3-C89C-2708-4468AB66D3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9BE4A8-5E3E-BFA2-E2F3-D2D1915A44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6721FB-33BC-2E4E-824A-CCED70B282D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2539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BD92C-6A78-D8E7-EF1F-9CC4BB96A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58617C-6883-036F-E7DE-ADE750A61A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96726-32E2-26A7-8DE8-E0F616677E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707575-848B-E14B-0F5B-7FD6DCB76D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87FA6C-A05F-5649-A6F3-1A1F0492C9D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93667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EEED9-14F8-6EA4-D7CD-8E63822DE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608E34-5E9A-DE93-C5D0-65EC969D2C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361049-59A2-54C2-6351-5AA6798BE3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D476C-9BAF-A10C-A38A-E537799C3D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87FA6C-A05F-5649-A6F3-1A1F0492C9D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7079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E621E-F293-2045-95F3-C08E09419B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6BB8D0-3CF8-ADC1-8954-7F2ADD7CA3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2507D-1FCB-805E-9EA1-E531E4C6F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66D3-DC54-4B3C-9C47-9CB99840844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AC60D-E692-51B1-3AA3-F85AB4173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87E3D-0132-76B9-9CFB-18915361D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EF565-3F81-4874-BD1C-68275A763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555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5F2BF-95B9-E4F4-8BC5-E8BBA3329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B2218-BF10-0E0E-EDAD-B0A92C701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D4FAD-BDB9-E784-948E-5229E86AF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66D3-DC54-4B3C-9C47-9CB99840844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DC345-AC37-C209-70FB-8F7A7EF88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FAA21-F0F2-44A7-195E-24EEAA890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EF565-3F81-4874-BD1C-68275A763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936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0DABC-80F8-AF1A-54ED-372FAB51F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BB06F6-1A2B-FE00-C7AA-CBCD07753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ACB77-E08D-75F5-CBE7-23B7923FC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66D3-DC54-4B3C-9C47-9CB99840844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BDC65-3AD8-B2AB-7A8A-47EF36E7B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D74F9-A500-ACD1-CE73-AB807E2F2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EF565-3F81-4874-BD1C-68275A763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125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F7A0A-0D40-7CD7-11C0-40DE767C4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E2141-5FB4-4121-78DF-5AFF5D9807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2BEAAC-DBE7-ECB2-C8FB-1D0E615048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7A0C40-8102-3D39-B8C4-BE5456BCB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66D3-DC54-4B3C-9C47-9CB99840844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C62A86-2927-CF18-4B25-99EC672C4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D80EF2-417E-75D4-EDE0-C702525AF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EF565-3F81-4874-BD1C-68275A763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457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E3AD6-A942-6322-A4BB-19BEE4B43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3DA421-A88E-0EEC-7ECF-623B84844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F5F8E9-4CA7-4DAE-3BA8-0DBE2243FD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9CA03-9B91-7749-7196-34B269970E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F87AA-25D1-81AF-E808-60931BF971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8C065F-81A9-0F02-523D-C1E50127D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66D3-DC54-4B3C-9C47-9CB99840844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033063-7EC5-161F-4F20-0C1A416D7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64495A-8B4F-851A-95FC-E432DDE24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EF565-3F81-4874-BD1C-68275A763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540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AFB56-F122-491E-43A7-FCB8332F7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018E2D-F340-0013-76F6-1612D9DDE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66D3-DC54-4B3C-9C47-9CB99840844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FDE84A-E577-179F-C81C-BA061F0E5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56663C-1100-3BA2-BD61-9164C498B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EF565-3F81-4874-BD1C-68275A763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691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5BAD6B-B704-D453-DE8C-2C0E1A5E8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66D3-DC54-4B3C-9C47-9CB99840844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C0CB00-F1B6-2079-B0B1-18EF84232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6C50BD-3A46-2428-3340-D30CBC345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EF565-3F81-4874-BD1C-68275A763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946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CFD1D-5962-5809-9AB1-058C1133C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5DAD6-2987-4A28-2307-3E9399243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76D05A-94FE-F4EF-2728-A4CD613B2D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1D3AF0-663B-85A5-3A6A-1C0A8D4AB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66D3-DC54-4B3C-9C47-9CB99840844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D3659D-BC09-4026-7EE1-99D792B20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846BA4-1856-90A5-7424-F16CB20E2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EF565-3F81-4874-BD1C-68275A763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888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04C43-438E-8EDE-E258-CAEBA5AC4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C51CE2-032D-86B8-BBDE-65B52E7B8A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7F0AD5-6FC9-79D1-ADD7-8DA04922F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8875D9-2867-B10B-800A-F4E0A4B3C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66D3-DC54-4B3C-9C47-9CB99840844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C2BAB1-ACF2-C096-E065-F5A311773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F997F0-B274-D7F8-3585-3805500F2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EF565-3F81-4874-BD1C-68275A763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134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59D05-10C2-23F1-2F81-5A2DE7183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E7E6B5-3D3F-7656-8719-1C80F9C07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7589F-701D-880C-6F44-9BB45BF31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66D3-DC54-4B3C-9C47-9CB99840844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54A33-0ACF-E837-4121-47007871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F5EC8-EFF9-4860-7900-9D5B74E8C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EF565-3F81-4874-BD1C-68275A763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252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B90F8-88C5-7AD9-CA66-9F54682711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BB33F3-A7C1-6739-7E2D-4BDA759BB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CD1FA-CF7A-1FF6-0842-873ADB89B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66D3-DC54-4B3C-9C47-9CB99840844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06542-2BCD-D66F-B10F-919FB5845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34F3C-B5BC-09C8-8F42-3C3823210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EF565-3F81-4874-BD1C-68275A763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141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56849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US" sz="150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655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194F37-F264-A922-23E3-B16A228E7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C45B9-B4C4-963A-87B1-D23749D9A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12165-AD01-6475-6192-1714C69AC9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5766D3-DC54-4B3C-9C47-9CB99840844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4A6E8-E1B5-2B37-D1B3-721D68378B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A2449-B1DC-1E88-E78F-18917A6EC9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7EF565-3F81-4874-BD1C-68275A763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259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62626">
                <a:alpha val="0"/>
              </a:srgbClr>
            </a:gs>
            <a:gs pos="100000">
              <a:srgbClr val="0F72B1">
                <a:alpha val="13000"/>
              </a:srgbClr>
            </a:gs>
          </a:gsLst>
          <a:lin ang="189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78FAB4-5080-E87C-400F-3CD5310D5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3">
            <a:extLst>
              <a:ext uri="{FF2B5EF4-FFF2-40B4-BE49-F238E27FC236}">
                <a16:creationId xmlns:a16="http://schemas.microsoft.com/office/drawing/2014/main" id="{745ECEDC-E6D6-3F59-1283-9F9CD499CF4A}"/>
              </a:ext>
            </a:extLst>
          </p:cNvPr>
          <p:cNvSpPr txBox="1">
            <a:spLocks/>
          </p:cNvSpPr>
          <p:nvPr/>
        </p:nvSpPr>
        <p:spPr>
          <a:xfrm>
            <a:off x="1913828" y="2657983"/>
            <a:ext cx="8199435" cy="738664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GB" sz="4800" b="1" dirty="0">
                <a:solidFill>
                  <a:srgbClr val="002060"/>
                </a:solidFill>
                <a:latin typeface="Poppins SemiBold"/>
                <a:cs typeface="Poppins SemiBold"/>
              </a:rPr>
              <a:t>Nexora Bot</a:t>
            </a:r>
            <a:endParaRPr lang="en-US" sz="4800" b="1" dirty="0">
              <a:solidFill>
                <a:srgbClr val="002060"/>
              </a:solidFill>
              <a:latin typeface="Poppins SemiBold"/>
              <a:cs typeface="Poppins SemiBold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7F94A58-0F5B-71C6-2F50-55F61472A308}"/>
              </a:ext>
            </a:extLst>
          </p:cNvPr>
          <p:cNvCxnSpPr>
            <a:cxnSpLocks/>
          </p:cNvCxnSpPr>
          <p:nvPr/>
        </p:nvCxnSpPr>
        <p:spPr>
          <a:xfrm>
            <a:off x="1959548" y="3421994"/>
            <a:ext cx="1274212" cy="0"/>
          </a:xfrm>
          <a:prstGeom prst="line">
            <a:avLst/>
          </a:prstGeom>
          <a:ln w="63500">
            <a:solidFill>
              <a:srgbClr val="FF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ue and black logo&#10;&#10;Description automatically generated">
            <a:extLst>
              <a:ext uri="{FF2B5EF4-FFF2-40B4-BE49-F238E27FC236}">
                <a16:creationId xmlns:a16="http://schemas.microsoft.com/office/drawing/2014/main" id="{FCCD5743-3DA2-B557-BDD8-EB923A5C007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10390" r="110" b="64505"/>
          <a:stretch/>
        </p:blipFill>
        <p:spPr>
          <a:xfrm rot="10800000">
            <a:off x="9118162" y="0"/>
            <a:ext cx="3073838" cy="1199660"/>
          </a:xfrm>
          <a:prstGeom prst="rect">
            <a:avLst/>
          </a:prstGeom>
        </p:spPr>
      </p:pic>
      <p:pic>
        <p:nvPicPr>
          <p:cNvPr id="7" name="Picture 6" descr="A red and black logo&#10;&#10;Description automatically generated">
            <a:extLst>
              <a:ext uri="{FF2B5EF4-FFF2-40B4-BE49-F238E27FC236}">
                <a16:creationId xmlns:a16="http://schemas.microsoft.com/office/drawing/2014/main" id="{EE659493-2796-F271-58B2-EBC26B192F9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 amt="15000"/>
          </a:blip>
          <a:srcRect l="-6138" t="59481" r="-23904" b="-96101"/>
          <a:stretch/>
        </p:blipFill>
        <p:spPr>
          <a:xfrm rot="10800000">
            <a:off x="-619310" y="2973285"/>
            <a:ext cx="3757437" cy="388471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FD5ECAC-01EA-B025-CAB9-8E62C3175A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1711" y="6108901"/>
            <a:ext cx="1764188" cy="44992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1828BE5-D1B7-3AEA-B549-3117CBF5B2A1}"/>
              </a:ext>
            </a:extLst>
          </p:cNvPr>
          <p:cNvSpPr txBox="1">
            <a:spLocks/>
          </p:cNvSpPr>
          <p:nvPr/>
        </p:nvSpPr>
        <p:spPr>
          <a:xfrm>
            <a:off x="1959548" y="3786629"/>
            <a:ext cx="8032163" cy="1120115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60000"/>
              </a:lnSpc>
            </a:pPr>
            <a:r>
              <a:rPr lang="en-US" sz="2400" dirty="0"/>
              <a:t>Structured. Unstructured. Web. One answer. Fetching answer wherever it is present.</a:t>
            </a:r>
            <a:endParaRPr lang="en-GB" sz="2400" b="1" dirty="0">
              <a:solidFill>
                <a:prstClr val="black"/>
              </a:solidFill>
              <a:latin typeface="Poppins SemiBold"/>
              <a:cs typeface="Poppi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809587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76697-8E48-5C40-AE40-95C8F10EF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Picture 125">
            <a:extLst>
              <a:ext uri="{FF2B5EF4-FFF2-40B4-BE49-F238E27FC236}">
                <a16:creationId xmlns:a16="http://schemas.microsoft.com/office/drawing/2014/main" id="{111469CA-800D-7B86-B763-4362BC689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7026" y="6427159"/>
            <a:ext cx="1242139" cy="316787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2FD18A5D-3330-DBB7-A9C4-47A2A25C67F9}"/>
              </a:ext>
            </a:extLst>
          </p:cNvPr>
          <p:cNvSpPr txBox="1">
            <a:spLocks/>
          </p:cNvSpPr>
          <p:nvPr/>
        </p:nvSpPr>
        <p:spPr>
          <a:xfrm>
            <a:off x="285701" y="189250"/>
            <a:ext cx="10309411" cy="7251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5000"/>
              </a:lnSpc>
            </a:pPr>
            <a:r>
              <a:rPr lang="en-US" sz="3000" b="1" dirty="0">
                <a:latin typeface="Poppins SemiBold"/>
                <a:ea typeface="+mj-lt"/>
                <a:cs typeface="Poppins SemiBold"/>
              </a:rPr>
              <a:t>Task list</a:t>
            </a:r>
          </a:p>
          <a:p>
            <a:pPr>
              <a:lnSpc>
                <a:spcPct val="125000"/>
              </a:lnSpc>
            </a:pPr>
            <a:endParaRPr lang="en-US" sz="3000" b="1" dirty="0">
              <a:latin typeface="Poppins SemiBold"/>
              <a:ea typeface="+mj-lt"/>
              <a:cs typeface="Poppins SemiBold"/>
            </a:endParaRPr>
          </a:p>
          <a:p>
            <a:pPr>
              <a:lnSpc>
                <a:spcPct val="125000"/>
              </a:lnSpc>
            </a:pPr>
            <a:endParaRPr lang="en-US" sz="3000" b="1" dirty="0">
              <a:latin typeface="Poppins SemiBold"/>
              <a:cs typeface="Poppins SemiBold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F0173C6-4739-4385-17C6-AEF949544278}"/>
              </a:ext>
            </a:extLst>
          </p:cNvPr>
          <p:cNvCxnSpPr>
            <a:cxnSpLocks/>
          </p:cNvCxnSpPr>
          <p:nvPr/>
        </p:nvCxnSpPr>
        <p:spPr>
          <a:xfrm>
            <a:off x="405969" y="954704"/>
            <a:ext cx="1274212" cy="0"/>
          </a:xfrm>
          <a:prstGeom prst="line">
            <a:avLst/>
          </a:prstGeom>
          <a:ln w="63500">
            <a:solidFill>
              <a:srgbClr val="FF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234E0D7E-7530-4FB5-CF0F-07E0F71BC028}"/>
              </a:ext>
            </a:extLst>
          </p:cNvPr>
          <p:cNvGrpSpPr/>
          <p:nvPr/>
        </p:nvGrpSpPr>
        <p:grpSpPr>
          <a:xfrm>
            <a:off x="1176680" y="1333940"/>
            <a:ext cx="9695536" cy="4434850"/>
            <a:chOff x="536600" y="1175650"/>
            <a:chExt cx="5347909" cy="1629130"/>
          </a:xfrm>
        </p:grpSpPr>
        <p:sp>
          <p:nvSpPr>
            <p:cNvPr id="4" name="Rounded Rectangle 13">
              <a:extLst>
                <a:ext uri="{FF2B5EF4-FFF2-40B4-BE49-F238E27FC236}">
                  <a16:creationId xmlns:a16="http://schemas.microsoft.com/office/drawing/2014/main" id="{449E4D97-DE60-7203-FA95-9915BA960509}"/>
                </a:ext>
              </a:extLst>
            </p:cNvPr>
            <p:cNvSpPr/>
            <p:nvPr/>
          </p:nvSpPr>
          <p:spPr>
            <a:xfrm>
              <a:off x="536600" y="1175650"/>
              <a:ext cx="5347909" cy="1629130"/>
            </a:xfrm>
            <a:prstGeom prst="roundRect">
              <a:avLst>
                <a:gd name="adj" fmla="val 6718"/>
              </a:avLst>
            </a:prstGeom>
            <a:gradFill>
              <a:gsLst>
                <a:gs pos="99000">
                  <a:srgbClr val="0F72B1">
                    <a:alpha val="9981"/>
                  </a:srgbClr>
                </a:gs>
                <a:gs pos="0">
                  <a:srgbClr val="F62626">
                    <a:alpha val="6119"/>
                    <a:lumMod val="68949"/>
                    <a:lumOff val="31051"/>
                  </a:srgb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9153D6E-950A-2BEF-2B15-A6AEAAAE13E6}"/>
                </a:ext>
              </a:extLst>
            </p:cNvPr>
            <p:cNvSpPr txBox="1"/>
            <p:nvPr/>
          </p:nvSpPr>
          <p:spPr>
            <a:xfrm>
              <a:off x="650109" y="1190459"/>
              <a:ext cx="5089309" cy="1515958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>
                <a:lnSpc>
                  <a:spcPct val="250000"/>
                </a:lnSpc>
                <a:buSzPct val="100000"/>
              </a:pPr>
              <a:r>
                <a:rPr lang="en-US" b="1" dirty="0">
                  <a:solidFill>
                    <a:srgbClr val="00B0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User Authentication:</a:t>
              </a:r>
              <a:r>
                <a:rPr lang="en-US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To keep your data private and secure</a:t>
              </a:r>
              <a:endParaRPr lang="en-US" dirty="0"/>
            </a:p>
            <a:p>
              <a:pPr>
                <a:lnSpc>
                  <a:spcPct val="250000"/>
                </a:lnSpc>
                <a:buSzPct val="100000"/>
              </a:pPr>
              <a:r>
                <a:rPr lang="en-US" b="1" dirty="0">
                  <a:solidFill>
                    <a:srgbClr val="00B0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User Sessions :</a:t>
              </a:r>
              <a:r>
                <a:rPr lang="en-US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dirty="0">
                  <a:latin typeface="Arial" pitchFamily="34" charset="0"/>
                  <a:cs typeface="Arial" pitchFamily="34" charset="-120"/>
                </a:rPr>
                <a:t>To save uploaded documents, embeddings, chats.</a:t>
              </a:r>
            </a:p>
            <a:p>
              <a:pPr>
                <a:lnSpc>
                  <a:spcPct val="250000"/>
                </a:lnSpc>
                <a:buSzPct val="100000"/>
              </a:pPr>
              <a:r>
                <a:rPr lang="en-US" b="1" dirty="0">
                  <a:solidFill>
                    <a:srgbClr val="00B0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Front End :</a:t>
              </a:r>
              <a:r>
                <a:rPr lang="en-US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dirty="0">
                  <a:latin typeface="Arial" pitchFamily="34" charset="0"/>
                  <a:cs typeface="Arial" pitchFamily="34" charset="-120"/>
                </a:rPr>
                <a:t>Presentable front end using AI tools.</a:t>
              </a:r>
            </a:p>
            <a:p>
              <a:pPr>
                <a:lnSpc>
                  <a:spcPct val="250000"/>
                </a:lnSpc>
                <a:buSzPct val="100000"/>
              </a:pPr>
              <a:r>
                <a:rPr lang="en-US" b="1" dirty="0">
                  <a:solidFill>
                    <a:srgbClr val="00B0F0"/>
                  </a:solidFill>
                  <a:latin typeface="Arial" pitchFamily="34" charset="0"/>
                  <a:cs typeface="Arial" pitchFamily="34" charset="-120"/>
                </a:rPr>
                <a:t>RAG on Variety of file formats : </a:t>
              </a:r>
              <a:r>
                <a:rPr lang="en-US" dirty="0">
                  <a:latin typeface="Arial" pitchFamily="34" charset="0"/>
                  <a:cs typeface="Arial" pitchFamily="34" charset="-120"/>
                </a:rPr>
                <a:t>To get the answers from the variety of file formats.</a:t>
              </a:r>
            </a:p>
            <a:p>
              <a:pPr>
                <a:lnSpc>
                  <a:spcPct val="250000"/>
                </a:lnSpc>
                <a:buSzPct val="100000"/>
              </a:pPr>
              <a:r>
                <a:rPr lang="en-US" b="1" dirty="0">
                  <a:solidFill>
                    <a:srgbClr val="00B0F0"/>
                  </a:solidFill>
                  <a:latin typeface="Arial" pitchFamily="34" charset="0"/>
                  <a:cs typeface="Arial" pitchFamily="34" charset="-120"/>
                </a:rPr>
                <a:t>Handling structured data: </a:t>
              </a:r>
              <a:r>
                <a:rPr lang="en-US" dirty="0">
                  <a:latin typeface="Arial" pitchFamily="34" charset="0"/>
                  <a:cs typeface="Arial" pitchFamily="34" charset="-120"/>
                </a:rPr>
                <a:t>To handle structured data by executing SQL queries.</a:t>
              </a:r>
            </a:p>
            <a:p>
              <a:pPr>
                <a:lnSpc>
                  <a:spcPct val="250000"/>
                </a:lnSpc>
                <a:buSzPct val="100000"/>
              </a:pPr>
              <a:r>
                <a:rPr lang="en-US" b="1" dirty="0">
                  <a:solidFill>
                    <a:srgbClr val="00B0F0"/>
                  </a:solidFill>
                  <a:latin typeface="Arial" pitchFamily="34" charset="0"/>
                  <a:cs typeface="Arial" pitchFamily="34" charset="-120"/>
                </a:rPr>
                <a:t>AI agent: </a:t>
              </a:r>
              <a:r>
                <a:rPr lang="en-US" dirty="0">
                  <a:latin typeface="Arial" pitchFamily="34" charset="0"/>
                  <a:cs typeface="Arial" pitchFamily="34" charset="-120"/>
                </a:rPr>
                <a:t>Use of AI agents if required.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14122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6B671-6904-984E-9262-06368B267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Picture 125">
            <a:extLst>
              <a:ext uri="{FF2B5EF4-FFF2-40B4-BE49-F238E27FC236}">
                <a16:creationId xmlns:a16="http://schemas.microsoft.com/office/drawing/2014/main" id="{90080C61-B63D-7EA5-926E-202EAF82F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7026" y="6427159"/>
            <a:ext cx="1242139" cy="316787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CC3BB892-E0EB-594D-9841-135223BB9FFF}"/>
              </a:ext>
            </a:extLst>
          </p:cNvPr>
          <p:cNvSpPr txBox="1">
            <a:spLocks/>
          </p:cNvSpPr>
          <p:nvPr/>
        </p:nvSpPr>
        <p:spPr>
          <a:xfrm>
            <a:off x="285701" y="189250"/>
            <a:ext cx="10309411" cy="7251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5000"/>
              </a:lnSpc>
            </a:pPr>
            <a:r>
              <a:rPr lang="en-US" sz="3000" b="1" dirty="0">
                <a:latin typeface="Poppins SemiBold"/>
                <a:ea typeface="+mj-lt"/>
                <a:cs typeface="Poppins SemiBold"/>
              </a:rPr>
              <a:t>Task summary as per Nexora document.</a:t>
            </a:r>
          </a:p>
          <a:p>
            <a:pPr>
              <a:lnSpc>
                <a:spcPct val="125000"/>
              </a:lnSpc>
            </a:pPr>
            <a:endParaRPr lang="en-US" sz="3000" b="1" dirty="0">
              <a:latin typeface="Poppins SemiBold"/>
              <a:ea typeface="+mj-lt"/>
              <a:cs typeface="Poppins SemiBold"/>
            </a:endParaRPr>
          </a:p>
          <a:p>
            <a:pPr>
              <a:lnSpc>
                <a:spcPct val="125000"/>
              </a:lnSpc>
            </a:pPr>
            <a:endParaRPr lang="en-US" sz="3000" b="1" dirty="0">
              <a:latin typeface="Poppins SemiBold"/>
              <a:cs typeface="Poppins SemiBold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ACBD700-7627-21F5-6F25-E2EB694CCB01}"/>
              </a:ext>
            </a:extLst>
          </p:cNvPr>
          <p:cNvCxnSpPr>
            <a:cxnSpLocks/>
          </p:cNvCxnSpPr>
          <p:nvPr/>
        </p:nvCxnSpPr>
        <p:spPr>
          <a:xfrm>
            <a:off x="405969" y="954704"/>
            <a:ext cx="1274212" cy="0"/>
          </a:xfrm>
          <a:prstGeom prst="line">
            <a:avLst/>
          </a:prstGeom>
          <a:ln w="63500">
            <a:solidFill>
              <a:srgbClr val="FF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A788C426-0479-B4FD-40F4-6E588917F14D}"/>
              </a:ext>
            </a:extLst>
          </p:cNvPr>
          <p:cNvGrpSpPr/>
          <p:nvPr/>
        </p:nvGrpSpPr>
        <p:grpSpPr>
          <a:xfrm>
            <a:off x="1176680" y="1333940"/>
            <a:ext cx="9695536" cy="4434850"/>
            <a:chOff x="536600" y="1175650"/>
            <a:chExt cx="5347909" cy="1629130"/>
          </a:xfrm>
        </p:grpSpPr>
        <p:sp>
          <p:nvSpPr>
            <p:cNvPr id="4" name="Rounded Rectangle 13">
              <a:extLst>
                <a:ext uri="{FF2B5EF4-FFF2-40B4-BE49-F238E27FC236}">
                  <a16:creationId xmlns:a16="http://schemas.microsoft.com/office/drawing/2014/main" id="{183E056B-2E3C-7F9F-784C-F9658C6AE058}"/>
                </a:ext>
              </a:extLst>
            </p:cNvPr>
            <p:cNvSpPr/>
            <p:nvPr/>
          </p:nvSpPr>
          <p:spPr>
            <a:xfrm>
              <a:off x="536600" y="1175650"/>
              <a:ext cx="5347909" cy="1629130"/>
            </a:xfrm>
            <a:prstGeom prst="roundRect">
              <a:avLst>
                <a:gd name="adj" fmla="val 6718"/>
              </a:avLst>
            </a:prstGeom>
            <a:gradFill>
              <a:gsLst>
                <a:gs pos="99000">
                  <a:srgbClr val="0F72B1">
                    <a:alpha val="9981"/>
                  </a:srgbClr>
                </a:gs>
                <a:gs pos="0">
                  <a:srgbClr val="F62626">
                    <a:alpha val="6119"/>
                    <a:lumMod val="68949"/>
                    <a:lumOff val="31051"/>
                  </a:srgb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E354D8F-C364-5ED3-1FD9-CE73B6FF3111}"/>
                </a:ext>
              </a:extLst>
            </p:cNvPr>
            <p:cNvSpPr txBox="1"/>
            <p:nvPr/>
          </p:nvSpPr>
          <p:spPr>
            <a:xfrm>
              <a:off x="650109" y="1190459"/>
              <a:ext cx="5089309" cy="1317701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>
                <a:lnSpc>
                  <a:spcPct val="250000"/>
                </a:lnSpc>
                <a:buSzPct val="100000"/>
              </a:pPr>
              <a:r>
                <a:rPr lang="en-US" sz="3200" dirty="0"/>
                <a:t>Creating the </a:t>
              </a:r>
              <a:r>
                <a:rPr lang="en-US" sz="3200" dirty="0">
                  <a:solidFill>
                    <a:schemeClr val="accent3"/>
                  </a:solidFill>
                </a:rPr>
                <a:t>frontend</a:t>
              </a:r>
              <a:r>
                <a:rPr lang="en-US" sz="3200" dirty="0"/>
                <a:t> using AI platforms, integrating it with the </a:t>
              </a:r>
              <a:r>
                <a:rPr lang="en-US" sz="3200" dirty="0">
                  <a:solidFill>
                    <a:schemeClr val="accent3"/>
                  </a:solidFill>
                </a:rPr>
                <a:t>backend</a:t>
              </a:r>
              <a:r>
                <a:rPr lang="en-US" sz="3200" dirty="0"/>
                <a:t>, and ensuring successful </a:t>
              </a:r>
              <a:r>
                <a:rPr lang="en-US" sz="3200" dirty="0">
                  <a:solidFill>
                    <a:schemeClr val="accent3"/>
                  </a:solidFill>
                </a:rPr>
                <a:t>deployment.</a:t>
              </a:r>
              <a:endParaRPr lang="en-US" sz="3200" dirty="0">
                <a:solidFill>
                  <a:schemeClr val="accent3"/>
                </a:solidFill>
                <a:latin typeface="Arial" pitchFamily="34" charset="0"/>
                <a:cs typeface="Arial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179136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D9BB5-3D88-84E7-5A87-BD7B22255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5434B378-4C4E-01C9-009C-2FD62FD1FB0C}"/>
              </a:ext>
            </a:extLst>
          </p:cNvPr>
          <p:cNvSpPr txBox="1">
            <a:spLocks/>
          </p:cNvSpPr>
          <p:nvPr/>
        </p:nvSpPr>
        <p:spPr>
          <a:xfrm>
            <a:off x="285701" y="189250"/>
            <a:ext cx="10309411" cy="7251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5000"/>
              </a:lnSpc>
            </a:pPr>
            <a:r>
              <a:rPr lang="en-US" sz="3000" b="1" dirty="0">
                <a:latin typeface="Poppins SemiBold"/>
                <a:ea typeface="+mj-lt"/>
                <a:cs typeface="Poppins SemiBold"/>
              </a:rPr>
              <a:t>Technology Stack</a:t>
            </a:r>
          </a:p>
          <a:p>
            <a:pPr>
              <a:lnSpc>
                <a:spcPct val="125000"/>
              </a:lnSpc>
            </a:pPr>
            <a:endParaRPr lang="en-US" sz="3000" b="1" dirty="0">
              <a:latin typeface="Poppins SemiBold"/>
              <a:ea typeface="+mj-lt"/>
              <a:cs typeface="Poppins SemiBold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A642C98-07E5-4DDD-EC99-3108B949A8A6}"/>
              </a:ext>
            </a:extLst>
          </p:cNvPr>
          <p:cNvCxnSpPr>
            <a:cxnSpLocks/>
          </p:cNvCxnSpPr>
          <p:nvPr/>
        </p:nvCxnSpPr>
        <p:spPr>
          <a:xfrm>
            <a:off x="405969" y="954704"/>
            <a:ext cx="1274212" cy="0"/>
          </a:xfrm>
          <a:prstGeom prst="line">
            <a:avLst/>
          </a:prstGeom>
          <a:ln w="63500">
            <a:solidFill>
              <a:srgbClr val="FF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848D895-3075-3344-CFCE-5FF5F97B24CE}"/>
              </a:ext>
            </a:extLst>
          </p:cNvPr>
          <p:cNvSpPr txBox="1"/>
          <p:nvPr/>
        </p:nvSpPr>
        <p:spPr>
          <a:xfrm>
            <a:off x="365760" y="1069848"/>
            <a:ext cx="86593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Full-stack architecture powering intelligent document processing</a:t>
            </a:r>
            <a:endParaRPr lang="en-US" sz="1600" dirty="0"/>
          </a:p>
        </p:txBody>
      </p:sp>
      <p:sp>
        <p:nvSpPr>
          <p:cNvPr id="103" name="Shape 2">
            <a:extLst>
              <a:ext uri="{FF2B5EF4-FFF2-40B4-BE49-F238E27FC236}">
                <a16:creationId xmlns:a16="http://schemas.microsoft.com/office/drawing/2014/main" id="{25D4D7D4-973B-97D4-E28D-1E30658B5B53}"/>
              </a:ext>
            </a:extLst>
          </p:cNvPr>
          <p:cNvSpPr/>
          <p:nvPr/>
        </p:nvSpPr>
        <p:spPr>
          <a:xfrm>
            <a:off x="428829" y="1521477"/>
            <a:ext cx="2613125" cy="1095148"/>
          </a:xfrm>
          <a:prstGeom prst="roundRect">
            <a:avLst>
              <a:gd name="adj" fmla="val 16137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 sz="16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4" name="Image 0" descr="preencoded.png">
            <a:extLst>
              <a:ext uri="{FF2B5EF4-FFF2-40B4-BE49-F238E27FC236}">
                <a16:creationId xmlns:a16="http://schemas.microsoft.com/office/drawing/2014/main" id="{7BDBBADB-4D37-E0FA-A114-75D1E7563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159" y="1687806"/>
            <a:ext cx="445093" cy="476131"/>
          </a:xfrm>
          <a:prstGeom prst="rect">
            <a:avLst/>
          </a:prstGeom>
        </p:spPr>
      </p:pic>
      <p:sp>
        <p:nvSpPr>
          <p:cNvPr id="106" name="Text 3">
            <a:extLst>
              <a:ext uri="{FF2B5EF4-FFF2-40B4-BE49-F238E27FC236}">
                <a16:creationId xmlns:a16="http://schemas.microsoft.com/office/drawing/2014/main" id="{83AAA243-2FC0-9DCA-F441-12F2E43879B0}"/>
              </a:ext>
            </a:extLst>
          </p:cNvPr>
          <p:cNvSpPr/>
          <p:nvPr/>
        </p:nvSpPr>
        <p:spPr>
          <a:xfrm>
            <a:off x="1164754" y="2071235"/>
            <a:ext cx="1360209" cy="278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dirty="0">
                <a:solidFill>
                  <a:srgbClr val="384653"/>
                </a:solidFill>
                <a:latin typeface="+mj-lt"/>
                <a:ea typeface="Barlow Bold" pitchFamily="34" charset="-122"/>
                <a:cs typeface="Barlow Bold" pitchFamily="34" charset="-120"/>
              </a:rPr>
              <a:t>Frontend</a:t>
            </a:r>
            <a:endParaRPr lang="en-US" sz="14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107" name="Text 4">
            <a:extLst>
              <a:ext uri="{FF2B5EF4-FFF2-40B4-BE49-F238E27FC236}">
                <a16:creationId xmlns:a16="http://schemas.microsoft.com/office/drawing/2014/main" id="{32A5521B-81EE-D899-75AA-8594FE1BD54F}"/>
              </a:ext>
            </a:extLst>
          </p:cNvPr>
          <p:cNvSpPr/>
          <p:nvPr/>
        </p:nvSpPr>
        <p:spPr>
          <a:xfrm>
            <a:off x="1164754" y="1769483"/>
            <a:ext cx="1232659" cy="308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0"/>
              </a:lnSpc>
            </a:pPr>
            <a:r>
              <a:rPr lang="en-US" sz="20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Next.js</a:t>
            </a:r>
            <a:endParaRPr lang="en-US" sz="20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8" name="Shape 5">
            <a:extLst>
              <a:ext uri="{FF2B5EF4-FFF2-40B4-BE49-F238E27FC236}">
                <a16:creationId xmlns:a16="http://schemas.microsoft.com/office/drawing/2014/main" id="{E48464C1-F7F2-F063-E044-C0010B0A7DA3}"/>
              </a:ext>
            </a:extLst>
          </p:cNvPr>
          <p:cNvSpPr/>
          <p:nvPr/>
        </p:nvSpPr>
        <p:spPr>
          <a:xfrm>
            <a:off x="3221511" y="1521477"/>
            <a:ext cx="2613125" cy="1095148"/>
          </a:xfrm>
          <a:prstGeom prst="roundRect">
            <a:avLst>
              <a:gd name="adj" fmla="val 16137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 sz="16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9" name="Image 2" descr="preencoded.png">
            <a:extLst>
              <a:ext uri="{FF2B5EF4-FFF2-40B4-BE49-F238E27FC236}">
                <a16:creationId xmlns:a16="http://schemas.microsoft.com/office/drawing/2014/main" id="{F883144C-1120-8055-60EA-84C73B596C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7841" y="1687806"/>
            <a:ext cx="445093" cy="476131"/>
          </a:xfrm>
          <a:prstGeom prst="rect">
            <a:avLst/>
          </a:prstGeom>
        </p:spPr>
      </p:pic>
      <p:sp>
        <p:nvSpPr>
          <p:cNvPr id="111" name="Text 6">
            <a:extLst>
              <a:ext uri="{FF2B5EF4-FFF2-40B4-BE49-F238E27FC236}">
                <a16:creationId xmlns:a16="http://schemas.microsoft.com/office/drawing/2014/main" id="{A608C749-E73D-051C-3FC2-5A5EB8864BEE}"/>
              </a:ext>
            </a:extLst>
          </p:cNvPr>
          <p:cNvSpPr/>
          <p:nvPr/>
        </p:nvSpPr>
        <p:spPr>
          <a:xfrm>
            <a:off x="3971962" y="2071235"/>
            <a:ext cx="1482194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dirty="0">
                <a:solidFill>
                  <a:srgbClr val="384653"/>
                </a:solidFill>
                <a:latin typeface="+mj-lt"/>
                <a:ea typeface="Barlow Bold" pitchFamily="34" charset="-122"/>
                <a:cs typeface="Barlow Bold" pitchFamily="34" charset="-120"/>
              </a:rPr>
              <a:t>Authentication</a:t>
            </a:r>
            <a:endParaRPr lang="en-US" sz="14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112" name="Text 7">
            <a:extLst>
              <a:ext uri="{FF2B5EF4-FFF2-40B4-BE49-F238E27FC236}">
                <a16:creationId xmlns:a16="http://schemas.microsoft.com/office/drawing/2014/main" id="{B591A43A-7955-1F08-7953-5EBA5E087EB4}"/>
              </a:ext>
            </a:extLst>
          </p:cNvPr>
          <p:cNvSpPr/>
          <p:nvPr/>
        </p:nvSpPr>
        <p:spPr>
          <a:xfrm>
            <a:off x="3971963" y="1769483"/>
            <a:ext cx="921462" cy="386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0"/>
              </a:lnSpc>
            </a:pPr>
            <a:r>
              <a:rPr lang="en-US" sz="20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Clerk</a:t>
            </a:r>
            <a:endParaRPr lang="en-US" sz="20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3" name="Shape 8">
            <a:extLst>
              <a:ext uri="{FF2B5EF4-FFF2-40B4-BE49-F238E27FC236}">
                <a16:creationId xmlns:a16="http://schemas.microsoft.com/office/drawing/2014/main" id="{ADE14AD4-04D3-B955-84BC-2BA97674A107}"/>
              </a:ext>
            </a:extLst>
          </p:cNvPr>
          <p:cNvSpPr/>
          <p:nvPr/>
        </p:nvSpPr>
        <p:spPr>
          <a:xfrm>
            <a:off x="6005049" y="1521477"/>
            <a:ext cx="2613125" cy="1095148"/>
          </a:xfrm>
          <a:prstGeom prst="roundRect">
            <a:avLst>
              <a:gd name="adj" fmla="val 16137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 sz="16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14" name="Image 4" descr="preencoded.png">
            <a:extLst>
              <a:ext uri="{FF2B5EF4-FFF2-40B4-BE49-F238E27FC236}">
                <a16:creationId xmlns:a16="http://schemas.microsoft.com/office/drawing/2014/main" id="{641D3558-6336-F3D4-0D8C-919306834A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1380" y="1687806"/>
            <a:ext cx="445093" cy="476131"/>
          </a:xfrm>
          <a:prstGeom prst="rect">
            <a:avLst/>
          </a:prstGeom>
        </p:spPr>
      </p:pic>
      <p:sp>
        <p:nvSpPr>
          <p:cNvPr id="116" name="Text 9">
            <a:extLst>
              <a:ext uri="{FF2B5EF4-FFF2-40B4-BE49-F238E27FC236}">
                <a16:creationId xmlns:a16="http://schemas.microsoft.com/office/drawing/2014/main" id="{3C908719-EAE0-E3B3-B9D3-49B1E682E3D3}"/>
              </a:ext>
            </a:extLst>
          </p:cNvPr>
          <p:cNvSpPr/>
          <p:nvPr/>
        </p:nvSpPr>
        <p:spPr>
          <a:xfrm>
            <a:off x="6770026" y="2071235"/>
            <a:ext cx="1342323" cy="330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dirty="0">
                <a:solidFill>
                  <a:srgbClr val="384653"/>
                </a:solidFill>
                <a:latin typeface="+mj-lt"/>
                <a:ea typeface="Barlow Bold" pitchFamily="34" charset="-122"/>
                <a:cs typeface="Barlow Bold" pitchFamily="34" charset="-120"/>
              </a:rPr>
              <a:t>Backend</a:t>
            </a:r>
            <a:endParaRPr lang="en-US" sz="14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117" name="Text 10">
            <a:extLst>
              <a:ext uri="{FF2B5EF4-FFF2-40B4-BE49-F238E27FC236}">
                <a16:creationId xmlns:a16="http://schemas.microsoft.com/office/drawing/2014/main" id="{BB8C0548-CE1E-40A4-99BE-3F9570E83084}"/>
              </a:ext>
            </a:extLst>
          </p:cNvPr>
          <p:cNvSpPr/>
          <p:nvPr/>
        </p:nvSpPr>
        <p:spPr>
          <a:xfrm>
            <a:off x="6770026" y="1769483"/>
            <a:ext cx="1394935" cy="3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0"/>
              </a:lnSpc>
            </a:pPr>
            <a:r>
              <a:rPr lang="en-US" sz="20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 API</a:t>
            </a:r>
            <a:endParaRPr lang="en-US" sz="20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8" name="Shape 11">
            <a:extLst>
              <a:ext uri="{FF2B5EF4-FFF2-40B4-BE49-F238E27FC236}">
                <a16:creationId xmlns:a16="http://schemas.microsoft.com/office/drawing/2014/main" id="{B32D2937-6022-563C-5005-BB1B2CB52173}"/>
              </a:ext>
            </a:extLst>
          </p:cNvPr>
          <p:cNvSpPr/>
          <p:nvPr/>
        </p:nvSpPr>
        <p:spPr>
          <a:xfrm>
            <a:off x="8797732" y="1521477"/>
            <a:ext cx="2613236" cy="1095148"/>
          </a:xfrm>
          <a:prstGeom prst="roundRect">
            <a:avLst>
              <a:gd name="adj" fmla="val 16137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 sz="16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19" name="Image 6" descr="preencoded.png">
            <a:extLst>
              <a:ext uri="{FF2B5EF4-FFF2-40B4-BE49-F238E27FC236}">
                <a16:creationId xmlns:a16="http://schemas.microsoft.com/office/drawing/2014/main" id="{0B727611-BF1C-DFA9-D3AC-A9E65C9AE4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4062" y="1687806"/>
            <a:ext cx="445093" cy="476131"/>
          </a:xfrm>
          <a:prstGeom prst="rect">
            <a:avLst/>
          </a:prstGeom>
        </p:spPr>
      </p:pic>
      <p:sp>
        <p:nvSpPr>
          <p:cNvPr id="121" name="Text 12">
            <a:extLst>
              <a:ext uri="{FF2B5EF4-FFF2-40B4-BE49-F238E27FC236}">
                <a16:creationId xmlns:a16="http://schemas.microsoft.com/office/drawing/2014/main" id="{A8085A35-DDB7-9780-4FCC-A3F35DFB8282}"/>
              </a:ext>
            </a:extLst>
          </p:cNvPr>
          <p:cNvSpPr/>
          <p:nvPr/>
        </p:nvSpPr>
        <p:spPr>
          <a:xfrm>
            <a:off x="9485794" y="2071235"/>
            <a:ext cx="1733294" cy="32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dirty="0">
                <a:solidFill>
                  <a:srgbClr val="384653"/>
                </a:solidFill>
                <a:latin typeface="+mj-lt"/>
                <a:ea typeface="Barlow Bold" pitchFamily="34" charset="-122"/>
                <a:cs typeface="Barlow Bold" pitchFamily="34" charset="-120"/>
              </a:rPr>
              <a:t>Package Manager</a:t>
            </a:r>
            <a:endParaRPr lang="en-US" sz="14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122" name="Text 13">
            <a:extLst>
              <a:ext uri="{FF2B5EF4-FFF2-40B4-BE49-F238E27FC236}">
                <a16:creationId xmlns:a16="http://schemas.microsoft.com/office/drawing/2014/main" id="{C98E6556-2AB1-6B88-9F1F-2B1A90FDBED7}"/>
              </a:ext>
            </a:extLst>
          </p:cNvPr>
          <p:cNvSpPr/>
          <p:nvPr/>
        </p:nvSpPr>
        <p:spPr>
          <a:xfrm>
            <a:off x="9485795" y="1769483"/>
            <a:ext cx="1208060" cy="39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0"/>
              </a:lnSpc>
            </a:pPr>
            <a:r>
              <a:rPr lang="en-US" sz="20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Poetry</a:t>
            </a:r>
            <a:endParaRPr lang="en-US" sz="20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3" name="Shape 14">
            <a:extLst>
              <a:ext uri="{FF2B5EF4-FFF2-40B4-BE49-F238E27FC236}">
                <a16:creationId xmlns:a16="http://schemas.microsoft.com/office/drawing/2014/main" id="{6CF1EA2E-A929-3002-16A3-06D0BE0A4186}"/>
              </a:ext>
            </a:extLst>
          </p:cNvPr>
          <p:cNvSpPr/>
          <p:nvPr/>
        </p:nvSpPr>
        <p:spPr>
          <a:xfrm>
            <a:off x="428829" y="2756427"/>
            <a:ext cx="3520340" cy="986908"/>
          </a:xfrm>
          <a:prstGeom prst="roundRect">
            <a:avLst>
              <a:gd name="adj" fmla="val 9718"/>
            </a:avLst>
          </a:prstGeom>
          <a:solidFill>
            <a:srgbClr val="FFFFFF"/>
          </a:solidFill>
          <a:ln w="19050">
            <a:solidFill>
              <a:srgbClr val="5B9BD5">
                <a:lumMod val="40000"/>
                <a:lumOff val="60000"/>
              </a:srgbClr>
            </a:solidFill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pic>
        <p:nvPicPr>
          <p:cNvPr id="124" name="Image 8" descr="preencoded.png">
            <a:extLst>
              <a:ext uri="{FF2B5EF4-FFF2-40B4-BE49-F238E27FC236}">
                <a16:creationId xmlns:a16="http://schemas.microsoft.com/office/drawing/2014/main" id="{DBA51975-8D7E-D104-9AAD-FE6075FDA9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829" y="2733567"/>
            <a:ext cx="3520340" cy="91440"/>
          </a:xfrm>
          <a:prstGeom prst="rect">
            <a:avLst/>
          </a:prstGeom>
        </p:spPr>
      </p:pic>
      <p:sp>
        <p:nvSpPr>
          <p:cNvPr id="125" name="Text 15">
            <a:extLst>
              <a:ext uri="{FF2B5EF4-FFF2-40B4-BE49-F238E27FC236}">
                <a16:creationId xmlns:a16="http://schemas.microsoft.com/office/drawing/2014/main" id="{B6FED19D-29B5-584C-EE08-830C45211B57}"/>
              </a:ext>
            </a:extLst>
          </p:cNvPr>
          <p:cNvSpPr/>
          <p:nvPr/>
        </p:nvSpPr>
        <p:spPr>
          <a:xfrm>
            <a:off x="616115" y="3223379"/>
            <a:ext cx="1210064" cy="26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dirty="0">
                <a:solidFill>
                  <a:srgbClr val="384653"/>
                </a:solidFill>
                <a:latin typeface="+mj-lt"/>
                <a:ea typeface="Barlow Bold" pitchFamily="34" charset="-122"/>
                <a:cs typeface="Barlow Bold" pitchFamily="34" charset="-120"/>
              </a:rPr>
              <a:t>Database</a:t>
            </a:r>
            <a:endParaRPr lang="en-US" sz="14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127" name="Text 16">
            <a:extLst>
              <a:ext uri="{FF2B5EF4-FFF2-40B4-BE49-F238E27FC236}">
                <a16:creationId xmlns:a16="http://schemas.microsoft.com/office/drawing/2014/main" id="{25843F42-D9BD-A35C-E1D1-3DB5406BAAD0}"/>
              </a:ext>
            </a:extLst>
          </p:cNvPr>
          <p:cNvSpPr/>
          <p:nvPr/>
        </p:nvSpPr>
        <p:spPr>
          <a:xfrm>
            <a:off x="616114" y="2949059"/>
            <a:ext cx="806598" cy="356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0"/>
              </a:lnSpc>
            </a:pPr>
            <a:r>
              <a:rPr lang="en-US" sz="16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Supabase</a:t>
            </a:r>
            <a:endParaRPr lang="en-US" sz="16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8" name="Shape 17">
            <a:extLst>
              <a:ext uri="{FF2B5EF4-FFF2-40B4-BE49-F238E27FC236}">
                <a16:creationId xmlns:a16="http://schemas.microsoft.com/office/drawing/2014/main" id="{BC7D4296-4995-F2B1-53E0-625BD61A0B73}"/>
              </a:ext>
            </a:extLst>
          </p:cNvPr>
          <p:cNvSpPr/>
          <p:nvPr/>
        </p:nvSpPr>
        <p:spPr>
          <a:xfrm>
            <a:off x="4109694" y="2756427"/>
            <a:ext cx="3520451" cy="986908"/>
          </a:xfrm>
          <a:prstGeom prst="roundRect">
            <a:avLst>
              <a:gd name="adj" fmla="val 9718"/>
            </a:avLst>
          </a:prstGeom>
          <a:solidFill>
            <a:srgbClr val="FFFFFF"/>
          </a:solidFill>
          <a:ln w="19050">
            <a:solidFill>
              <a:srgbClr val="5B9BD5">
                <a:lumMod val="40000"/>
                <a:lumOff val="60000"/>
              </a:srgbClr>
            </a:solidFill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pic>
        <p:nvPicPr>
          <p:cNvPr id="129" name="Image 11" descr="preencoded.png">
            <a:extLst>
              <a:ext uri="{FF2B5EF4-FFF2-40B4-BE49-F238E27FC236}">
                <a16:creationId xmlns:a16="http://schemas.microsoft.com/office/drawing/2014/main" id="{4D6AC2A5-F08D-ABE0-0517-E6C8FF487C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9694" y="2733567"/>
            <a:ext cx="3520451" cy="91440"/>
          </a:xfrm>
          <a:prstGeom prst="rect">
            <a:avLst/>
          </a:prstGeom>
        </p:spPr>
      </p:pic>
      <p:sp>
        <p:nvSpPr>
          <p:cNvPr id="130" name="Text 18">
            <a:extLst>
              <a:ext uri="{FF2B5EF4-FFF2-40B4-BE49-F238E27FC236}">
                <a16:creationId xmlns:a16="http://schemas.microsoft.com/office/drawing/2014/main" id="{BF8DFBC7-C54F-A2F6-083B-B7A850BB89C4}"/>
              </a:ext>
            </a:extLst>
          </p:cNvPr>
          <p:cNvSpPr/>
          <p:nvPr/>
        </p:nvSpPr>
        <p:spPr>
          <a:xfrm>
            <a:off x="4266443" y="3223379"/>
            <a:ext cx="970067" cy="41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dirty="0">
                <a:solidFill>
                  <a:srgbClr val="384653"/>
                </a:solidFill>
                <a:latin typeface="+mj-lt"/>
                <a:ea typeface="Barlow Bold" pitchFamily="34" charset="-122"/>
                <a:cs typeface="Barlow Bold" pitchFamily="34" charset="-120"/>
              </a:rPr>
              <a:t>Simple Storage Service​</a:t>
            </a:r>
            <a:endParaRPr lang="en-US" sz="14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131" name="Text 19">
            <a:extLst>
              <a:ext uri="{FF2B5EF4-FFF2-40B4-BE49-F238E27FC236}">
                <a16:creationId xmlns:a16="http://schemas.microsoft.com/office/drawing/2014/main" id="{852A0C47-6028-F16E-2E2D-11E1B021F5D4}"/>
              </a:ext>
            </a:extLst>
          </p:cNvPr>
          <p:cNvSpPr/>
          <p:nvPr/>
        </p:nvSpPr>
        <p:spPr>
          <a:xfrm>
            <a:off x="4266443" y="2949059"/>
            <a:ext cx="1077393" cy="285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0"/>
              </a:lnSpc>
            </a:pPr>
            <a:r>
              <a:rPr lang="en-US" sz="16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Tigris</a:t>
            </a:r>
            <a:endParaRPr lang="en-US" sz="16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2" name="Shape 20">
            <a:extLst>
              <a:ext uri="{FF2B5EF4-FFF2-40B4-BE49-F238E27FC236}">
                <a16:creationId xmlns:a16="http://schemas.microsoft.com/office/drawing/2014/main" id="{483839AB-83D7-A489-6B83-465043E36C42}"/>
              </a:ext>
            </a:extLst>
          </p:cNvPr>
          <p:cNvSpPr/>
          <p:nvPr/>
        </p:nvSpPr>
        <p:spPr>
          <a:xfrm>
            <a:off x="7891261" y="2756427"/>
            <a:ext cx="3520451" cy="986908"/>
          </a:xfrm>
          <a:prstGeom prst="roundRect">
            <a:avLst>
              <a:gd name="adj" fmla="val 9718"/>
            </a:avLst>
          </a:prstGeom>
          <a:solidFill>
            <a:srgbClr val="FFFFFF"/>
          </a:solidFill>
          <a:ln w="19050">
            <a:solidFill>
              <a:srgbClr val="5B9BD5">
                <a:lumMod val="40000"/>
                <a:lumOff val="60000"/>
              </a:srgbClr>
            </a:solidFill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pic>
        <p:nvPicPr>
          <p:cNvPr id="133" name="Image 14" descr="preencoded.png">
            <a:extLst>
              <a:ext uri="{FF2B5EF4-FFF2-40B4-BE49-F238E27FC236}">
                <a16:creationId xmlns:a16="http://schemas.microsoft.com/office/drawing/2014/main" id="{09BAAA65-2B14-0C8A-91FC-821261858F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1261" y="2733567"/>
            <a:ext cx="3520451" cy="91440"/>
          </a:xfrm>
          <a:prstGeom prst="rect">
            <a:avLst/>
          </a:prstGeom>
        </p:spPr>
      </p:pic>
      <p:sp>
        <p:nvSpPr>
          <p:cNvPr id="134" name="Text 21">
            <a:extLst>
              <a:ext uri="{FF2B5EF4-FFF2-40B4-BE49-F238E27FC236}">
                <a16:creationId xmlns:a16="http://schemas.microsoft.com/office/drawing/2014/main" id="{B40C929C-2BCF-3A53-8BF5-9E4E900EEC60}"/>
              </a:ext>
            </a:extLst>
          </p:cNvPr>
          <p:cNvSpPr/>
          <p:nvPr/>
        </p:nvSpPr>
        <p:spPr>
          <a:xfrm>
            <a:off x="8086762" y="3223379"/>
            <a:ext cx="1043278" cy="266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dirty="0" err="1">
                <a:solidFill>
                  <a:srgbClr val="384653"/>
                </a:solidFill>
                <a:latin typeface="+mj-lt"/>
                <a:ea typeface="Barlow Bold" pitchFamily="34" charset="-122"/>
                <a:cs typeface="Barlow Bold" pitchFamily="34" charset="-120"/>
              </a:rPr>
              <a:t>Presigned</a:t>
            </a:r>
            <a:r>
              <a:rPr lang="en-US" sz="1400" dirty="0">
                <a:solidFill>
                  <a:srgbClr val="384653"/>
                </a:solidFill>
                <a:latin typeface="+mj-lt"/>
                <a:ea typeface="Barlow Bold" pitchFamily="34" charset="-122"/>
                <a:cs typeface="Barlow Bold" pitchFamily="34" charset="-120"/>
              </a:rPr>
              <a:t> URL creation​</a:t>
            </a:r>
            <a:endParaRPr lang="en-US" sz="14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135" name="Text 22">
            <a:extLst>
              <a:ext uri="{FF2B5EF4-FFF2-40B4-BE49-F238E27FC236}">
                <a16:creationId xmlns:a16="http://schemas.microsoft.com/office/drawing/2014/main" id="{B11750AA-B1FD-26B2-E526-9EF3D601A471}"/>
              </a:ext>
            </a:extLst>
          </p:cNvPr>
          <p:cNvSpPr/>
          <p:nvPr/>
        </p:nvSpPr>
        <p:spPr>
          <a:xfrm>
            <a:off x="8086763" y="2949059"/>
            <a:ext cx="1112922" cy="34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0"/>
              </a:lnSpc>
            </a:pPr>
            <a:r>
              <a:rPr lang="en-US" sz="16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boto3</a:t>
            </a:r>
            <a:endParaRPr lang="en-US" sz="16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6" name="Shape 23">
            <a:extLst>
              <a:ext uri="{FF2B5EF4-FFF2-40B4-BE49-F238E27FC236}">
                <a16:creationId xmlns:a16="http://schemas.microsoft.com/office/drawing/2014/main" id="{62002D37-D58F-5C4B-58E1-E85061F5BC77}"/>
              </a:ext>
            </a:extLst>
          </p:cNvPr>
          <p:cNvSpPr/>
          <p:nvPr/>
        </p:nvSpPr>
        <p:spPr>
          <a:xfrm>
            <a:off x="428829" y="3876104"/>
            <a:ext cx="3520340" cy="986908"/>
          </a:xfrm>
          <a:prstGeom prst="roundRect">
            <a:avLst>
              <a:gd name="adj" fmla="val 16137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37" name="Image 17" descr="preencoded.png">
            <a:extLst>
              <a:ext uri="{FF2B5EF4-FFF2-40B4-BE49-F238E27FC236}">
                <a16:creationId xmlns:a16="http://schemas.microsoft.com/office/drawing/2014/main" id="{88A8A0A7-D9BF-4D32-C332-600DD0AAB2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159" y="4042434"/>
            <a:ext cx="445093" cy="476131"/>
          </a:xfrm>
          <a:prstGeom prst="rect">
            <a:avLst/>
          </a:prstGeom>
        </p:spPr>
      </p:pic>
      <p:sp>
        <p:nvSpPr>
          <p:cNvPr id="139" name="Text 24">
            <a:extLst>
              <a:ext uri="{FF2B5EF4-FFF2-40B4-BE49-F238E27FC236}">
                <a16:creationId xmlns:a16="http://schemas.microsoft.com/office/drawing/2014/main" id="{72B5862C-C594-F25A-9872-96DA102D60D6}"/>
              </a:ext>
            </a:extLst>
          </p:cNvPr>
          <p:cNvSpPr/>
          <p:nvPr/>
        </p:nvSpPr>
        <p:spPr>
          <a:xfrm>
            <a:off x="1214852" y="4452470"/>
            <a:ext cx="1952553" cy="26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dirty="0">
                <a:solidFill>
                  <a:srgbClr val="384653"/>
                </a:solidFill>
                <a:latin typeface="+mj-lt"/>
                <a:ea typeface="Barlow Bold" pitchFamily="34" charset="-122"/>
                <a:cs typeface="Barlow Bold" pitchFamily="34" charset="-120"/>
              </a:rPr>
              <a:t>Message Broker</a:t>
            </a:r>
            <a:endParaRPr lang="en-US" sz="14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140" name="Text 25">
            <a:extLst>
              <a:ext uri="{FF2B5EF4-FFF2-40B4-BE49-F238E27FC236}">
                <a16:creationId xmlns:a16="http://schemas.microsoft.com/office/drawing/2014/main" id="{850BB43A-B5D7-00E1-AF37-70FCB093617A}"/>
              </a:ext>
            </a:extLst>
          </p:cNvPr>
          <p:cNvSpPr/>
          <p:nvPr/>
        </p:nvSpPr>
        <p:spPr>
          <a:xfrm>
            <a:off x="1203812" y="4127098"/>
            <a:ext cx="1145237" cy="502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0"/>
              </a:lnSpc>
            </a:pPr>
            <a:r>
              <a:rPr lang="en-US" sz="20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Redis</a:t>
            </a:r>
            <a:endParaRPr lang="en-US" sz="20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1" name="Shape 26">
            <a:extLst>
              <a:ext uri="{FF2B5EF4-FFF2-40B4-BE49-F238E27FC236}">
                <a16:creationId xmlns:a16="http://schemas.microsoft.com/office/drawing/2014/main" id="{F7E08876-353C-70AB-40D1-83D9116B92BD}"/>
              </a:ext>
            </a:extLst>
          </p:cNvPr>
          <p:cNvSpPr/>
          <p:nvPr/>
        </p:nvSpPr>
        <p:spPr>
          <a:xfrm>
            <a:off x="4155414" y="3876104"/>
            <a:ext cx="3520451" cy="986908"/>
          </a:xfrm>
          <a:prstGeom prst="roundRect">
            <a:avLst>
              <a:gd name="adj" fmla="val 16137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42" name="Image 19" descr="preencoded.png">
            <a:extLst>
              <a:ext uri="{FF2B5EF4-FFF2-40B4-BE49-F238E27FC236}">
                <a16:creationId xmlns:a16="http://schemas.microsoft.com/office/drawing/2014/main" id="{5DC1B68A-D617-9278-8DDF-7B5EB2C7F9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21744" y="4042434"/>
            <a:ext cx="445093" cy="476131"/>
          </a:xfrm>
          <a:prstGeom prst="rect">
            <a:avLst/>
          </a:prstGeom>
        </p:spPr>
      </p:pic>
      <p:sp>
        <p:nvSpPr>
          <p:cNvPr id="144" name="Text 27">
            <a:extLst>
              <a:ext uri="{FF2B5EF4-FFF2-40B4-BE49-F238E27FC236}">
                <a16:creationId xmlns:a16="http://schemas.microsoft.com/office/drawing/2014/main" id="{7A716BE1-F12F-C198-6683-719D0EEA2D80}"/>
              </a:ext>
            </a:extLst>
          </p:cNvPr>
          <p:cNvSpPr/>
          <p:nvPr/>
        </p:nvSpPr>
        <p:spPr>
          <a:xfrm>
            <a:off x="4953533" y="4436258"/>
            <a:ext cx="1952553" cy="26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dirty="0">
                <a:solidFill>
                  <a:srgbClr val="384653"/>
                </a:solidFill>
                <a:latin typeface="+mj-lt"/>
                <a:ea typeface="Barlow Bold" pitchFamily="34" charset="-122"/>
                <a:cs typeface="Barlow Bold" pitchFamily="34" charset="-120"/>
              </a:rPr>
              <a:t>Tasks</a:t>
            </a:r>
            <a:endParaRPr lang="en-US" sz="14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145" name="Text 28">
            <a:extLst>
              <a:ext uri="{FF2B5EF4-FFF2-40B4-BE49-F238E27FC236}">
                <a16:creationId xmlns:a16="http://schemas.microsoft.com/office/drawing/2014/main" id="{702A2850-03F4-AABE-B328-0D48236A6E43}"/>
              </a:ext>
            </a:extLst>
          </p:cNvPr>
          <p:cNvSpPr/>
          <p:nvPr/>
        </p:nvSpPr>
        <p:spPr>
          <a:xfrm>
            <a:off x="4928920" y="4094107"/>
            <a:ext cx="1188534" cy="517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0"/>
              </a:lnSpc>
            </a:pPr>
            <a:r>
              <a:rPr lang="en-US" sz="20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Celery</a:t>
            </a:r>
            <a:endParaRPr lang="en-US" sz="20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6" name="Shape 29">
            <a:extLst>
              <a:ext uri="{FF2B5EF4-FFF2-40B4-BE49-F238E27FC236}">
                <a16:creationId xmlns:a16="http://schemas.microsoft.com/office/drawing/2014/main" id="{DB093921-946C-839E-230D-4DE4CC311532}"/>
              </a:ext>
            </a:extLst>
          </p:cNvPr>
          <p:cNvSpPr/>
          <p:nvPr/>
        </p:nvSpPr>
        <p:spPr>
          <a:xfrm>
            <a:off x="7900405" y="3876104"/>
            <a:ext cx="3520451" cy="986908"/>
          </a:xfrm>
          <a:prstGeom prst="roundRect">
            <a:avLst>
              <a:gd name="adj" fmla="val 16137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 sz="16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47" name="Image 21" descr="preencoded.png">
            <a:extLst>
              <a:ext uri="{FF2B5EF4-FFF2-40B4-BE49-F238E27FC236}">
                <a16:creationId xmlns:a16="http://schemas.microsoft.com/office/drawing/2014/main" id="{62BD2EF8-6C9D-DC1A-A888-66728221C19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66736" y="4042434"/>
            <a:ext cx="445093" cy="476131"/>
          </a:xfrm>
          <a:prstGeom prst="rect">
            <a:avLst/>
          </a:prstGeom>
        </p:spPr>
      </p:pic>
      <p:sp>
        <p:nvSpPr>
          <p:cNvPr id="149" name="Text 30">
            <a:extLst>
              <a:ext uri="{FF2B5EF4-FFF2-40B4-BE49-F238E27FC236}">
                <a16:creationId xmlns:a16="http://schemas.microsoft.com/office/drawing/2014/main" id="{256AFBB6-C79C-CB44-8E19-072AABAB5726}"/>
              </a:ext>
            </a:extLst>
          </p:cNvPr>
          <p:cNvSpPr/>
          <p:nvPr/>
        </p:nvSpPr>
        <p:spPr>
          <a:xfrm>
            <a:off x="8646856" y="4405706"/>
            <a:ext cx="1952553" cy="26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dirty="0">
                <a:solidFill>
                  <a:srgbClr val="384653"/>
                </a:solidFill>
                <a:latin typeface="+mj-lt"/>
                <a:ea typeface="Barlow Bold" pitchFamily="34" charset="-122"/>
                <a:cs typeface="Barlow Bold" pitchFamily="34" charset="-120"/>
              </a:rPr>
              <a:t>Container</a:t>
            </a:r>
            <a:endParaRPr lang="en-US" sz="14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150" name="Text 31">
            <a:extLst>
              <a:ext uri="{FF2B5EF4-FFF2-40B4-BE49-F238E27FC236}">
                <a16:creationId xmlns:a16="http://schemas.microsoft.com/office/drawing/2014/main" id="{2AB96B58-B2B6-BE43-AE45-86594048B8F9}"/>
              </a:ext>
            </a:extLst>
          </p:cNvPr>
          <p:cNvSpPr/>
          <p:nvPr/>
        </p:nvSpPr>
        <p:spPr>
          <a:xfrm>
            <a:off x="8636653" y="4059174"/>
            <a:ext cx="1147766" cy="386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0"/>
              </a:lnSpc>
            </a:pPr>
            <a:r>
              <a:rPr lang="en-US" sz="20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Docker</a:t>
            </a:r>
            <a:endParaRPr lang="en-US" sz="20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1" name="Shape 32">
            <a:extLst>
              <a:ext uri="{FF2B5EF4-FFF2-40B4-BE49-F238E27FC236}">
                <a16:creationId xmlns:a16="http://schemas.microsoft.com/office/drawing/2014/main" id="{FECE793C-466E-592D-F745-8BAC89CBC00D}"/>
              </a:ext>
            </a:extLst>
          </p:cNvPr>
          <p:cNvSpPr/>
          <p:nvPr/>
        </p:nvSpPr>
        <p:spPr>
          <a:xfrm>
            <a:off x="483693" y="5025414"/>
            <a:ext cx="2613125" cy="913805"/>
          </a:xfrm>
          <a:prstGeom prst="roundRect">
            <a:avLst>
              <a:gd name="adj" fmla="val 12008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 sz="16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52" name="Image 23" descr="preencoded.png">
            <a:extLst>
              <a:ext uri="{FF2B5EF4-FFF2-40B4-BE49-F238E27FC236}">
                <a16:creationId xmlns:a16="http://schemas.microsoft.com/office/drawing/2014/main" id="{93683E39-8F98-4995-8397-485EDA5EB3C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0833" y="5025414"/>
            <a:ext cx="85479" cy="913805"/>
          </a:xfrm>
          <a:prstGeom prst="rect">
            <a:avLst/>
          </a:prstGeom>
        </p:spPr>
      </p:pic>
      <p:sp>
        <p:nvSpPr>
          <p:cNvPr id="153" name="Text 33">
            <a:extLst>
              <a:ext uri="{FF2B5EF4-FFF2-40B4-BE49-F238E27FC236}">
                <a16:creationId xmlns:a16="http://schemas.microsoft.com/office/drawing/2014/main" id="{1D92CC2B-A2F4-9D3C-2A5E-1122C9FC84F9}"/>
              </a:ext>
            </a:extLst>
          </p:cNvPr>
          <p:cNvSpPr/>
          <p:nvPr/>
        </p:nvSpPr>
        <p:spPr>
          <a:xfrm>
            <a:off x="700792" y="5438333"/>
            <a:ext cx="1952553" cy="26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dirty="0">
                <a:solidFill>
                  <a:srgbClr val="384653"/>
                </a:solidFill>
                <a:latin typeface="+mj-lt"/>
                <a:ea typeface="Barlow Bold" pitchFamily="34" charset="-122"/>
                <a:cs typeface="Barlow Bold" pitchFamily="34" charset="-120"/>
              </a:rPr>
              <a:t>Orchestration</a:t>
            </a:r>
            <a:endParaRPr lang="en-US" sz="14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154" name="Text 34">
            <a:extLst>
              <a:ext uri="{FF2B5EF4-FFF2-40B4-BE49-F238E27FC236}">
                <a16:creationId xmlns:a16="http://schemas.microsoft.com/office/drawing/2014/main" id="{C61F150B-557A-D5CD-CD03-AA8BF96273D4}"/>
              </a:ext>
            </a:extLst>
          </p:cNvPr>
          <p:cNvSpPr/>
          <p:nvPr/>
        </p:nvSpPr>
        <p:spPr>
          <a:xfrm>
            <a:off x="700793" y="5141129"/>
            <a:ext cx="1739992" cy="583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0"/>
              </a:lnSpc>
            </a:pPr>
            <a:r>
              <a:rPr lang="en-US" sz="16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LangChain</a:t>
            </a:r>
            <a:endParaRPr lang="en-US" sz="16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5" name="Shape 35">
            <a:extLst>
              <a:ext uri="{FF2B5EF4-FFF2-40B4-BE49-F238E27FC236}">
                <a16:creationId xmlns:a16="http://schemas.microsoft.com/office/drawing/2014/main" id="{60068132-C0A7-4A20-035E-431839AAFE66}"/>
              </a:ext>
            </a:extLst>
          </p:cNvPr>
          <p:cNvSpPr/>
          <p:nvPr/>
        </p:nvSpPr>
        <p:spPr>
          <a:xfrm>
            <a:off x="3248943" y="5025414"/>
            <a:ext cx="2613125" cy="913805"/>
          </a:xfrm>
          <a:prstGeom prst="roundRect">
            <a:avLst>
              <a:gd name="adj" fmla="val 12008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 sz="16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56" name="Image 24" descr="preencoded.png">
            <a:extLst>
              <a:ext uri="{FF2B5EF4-FFF2-40B4-BE49-F238E27FC236}">
                <a16:creationId xmlns:a16="http://schemas.microsoft.com/office/drawing/2014/main" id="{6F06ABA0-CA78-1520-8F81-2A77C32E637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26083" y="5025414"/>
            <a:ext cx="85479" cy="913805"/>
          </a:xfrm>
          <a:prstGeom prst="rect">
            <a:avLst/>
          </a:prstGeom>
        </p:spPr>
      </p:pic>
      <p:sp>
        <p:nvSpPr>
          <p:cNvPr id="157" name="Text 36">
            <a:extLst>
              <a:ext uri="{FF2B5EF4-FFF2-40B4-BE49-F238E27FC236}">
                <a16:creationId xmlns:a16="http://schemas.microsoft.com/office/drawing/2014/main" id="{0D0CFE3B-4E37-906C-7D1E-8471D8018430}"/>
              </a:ext>
            </a:extLst>
          </p:cNvPr>
          <p:cNvSpPr/>
          <p:nvPr/>
        </p:nvSpPr>
        <p:spPr>
          <a:xfrm>
            <a:off x="3466042" y="5438333"/>
            <a:ext cx="1952553" cy="26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dirty="0">
                <a:solidFill>
                  <a:srgbClr val="384653"/>
                </a:solidFill>
                <a:latin typeface="+mj-lt"/>
                <a:ea typeface="Barlow Bold" pitchFamily="34" charset="-122"/>
                <a:cs typeface="Barlow Bold" pitchFamily="34" charset="-120"/>
              </a:rPr>
              <a:t>File Processing</a:t>
            </a:r>
            <a:endParaRPr lang="en-US" sz="14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158" name="Text 37">
            <a:extLst>
              <a:ext uri="{FF2B5EF4-FFF2-40B4-BE49-F238E27FC236}">
                <a16:creationId xmlns:a16="http://schemas.microsoft.com/office/drawing/2014/main" id="{D481D1C3-5B2F-C2AD-6E86-F5FD9491B448}"/>
              </a:ext>
            </a:extLst>
          </p:cNvPr>
          <p:cNvSpPr/>
          <p:nvPr/>
        </p:nvSpPr>
        <p:spPr>
          <a:xfrm>
            <a:off x="3466043" y="5141129"/>
            <a:ext cx="1739992" cy="583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0"/>
              </a:lnSpc>
            </a:pPr>
            <a:r>
              <a:rPr lang="en-US" sz="16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Unstructured.io</a:t>
            </a:r>
            <a:endParaRPr lang="en-US" sz="16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9" name="Shape 38">
            <a:extLst>
              <a:ext uri="{FF2B5EF4-FFF2-40B4-BE49-F238E27FC236}">
                <a16:creationId xmlns:a16="http://schemas.microsoft.com/office/drawing/2014/main" id="{8F1F65B4-476D-255F-BFE1-10D545898694}"/>
              </a:ext>
            </a:extLst>
          </p:cNvPr>
          <p:cNvSpPr/>
          <p:nvPr/>
        </p:nvSpPr>
        <p:spPr>
          <a:xfrm>
            <a:off x="6014193" y="5025414"/>
            <a:ext cx="2613125" cy="913805"/>
          </a:xfrm>
          <a:prstGeom prst="roundRect">
            <a:avLst>
              <a:gd name="adj" fmla="val 12008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 sz="16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60" name="Image 25" descr="preencoded.png">
            <a:extLst>
              <a:ext uri="{FF2B5EF4-FFF2-40B4-BE49-F238E27FC236}">
                <a16:creationId xmlns:a16="http://schemas.microsoft.com/office/drawing/2014/main" id="{7A66DC99-D686-76A3-F969-FC4545372E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91333" y="5025414"/>
            <a:ext cx="85479" cy="913805"/>
          </a:xfrm>
          <a:prstGeom prst="rect">
            <a:avLst/>
          </a:prstGeom>
        </p:spPr>
      </p:pic>
      <p:sp>
        <p:nvSpPr>
          <p:cNvPr id="161" name="Text 39">
            <a:extLst>
              <a:ext uri="{FF2B5EF4-FFF2-40B4-BE49-F238E27FC236}">
                <a16:creationId xmlns:a16="http://schemas.microsoft.com/office/drawing/2014/main" id="{6F390EF9-49FA-1ACA-532F-0CD87F9C4A00}"/>
              </a:ext>
            </a:extLst>
          </p:cNvPr>
          <p:cNvSpPr/>
          <p:nvPr/>
        </p:nvSpPr>
        <p:spPr>
          <a:xfrm>
            <a:off x="6231293" y="5438333"/>
            <a:ext cx="1952553" cy="26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dirty="0">
                <a:solidFill>
                  <a:srgbClr val="384653"/>
                </a:solidFill>
                <a:latin typeface="+mj-lt"/>
                <a:ea typeface="Barlow Bold" pitchFamily="34" charset="-122"/>
                <a:cs typeface="Barlow Bold" pitchFamily="34" charset="-120"/>
              </a:rPr>
              <a:t>LLM, Embeddings</a:t>
            </a:r>
            <a:endParaRPr lang="en-US" sz="14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162" name="Text 40">
            <a:extLst>
              <a:ext uri="{FF2B5EF4-FFF2-40B4-BE49-F238E27FC236}">
                <a16:creationId xmlns:a16="http://schemas.microsoft.com/office/drawing/2014/main" id="{56730B29-F436-D61A-D057-C7DC76260C1E}"/>
              </a:ext>
            </a:extLst>
          </p:cNvPr>
          <p:cNvSpPr/>
          <p:nvPr/>
        </p:nvSpPr>
        <p:spPr>
          <a:xfrm>
            <a:off x="6231294" y="5141129"/>
            <a:ext cx="1739992" cy="583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0"/>
              </a:lnSpc>
            </a:pPr>
            <a:r>
              <a:rPr lang="en-US" sz="16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OpenAI</a:t>
            </a:r>
            <a:endParaRPr lang="en-US" sz="16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3" name="Shape 41">
            <a:extLst>
              <a:ext uri="{FF2B5EF4-FFF2-40B4-BE49-F238E27FC236}">
                <a16:creationId xmlns:a16="http://schemas.microsoft.com/office/drawing/2014/main" id="{6C48E554-38F0-79BD-8C68-F1E3D4B35945}"/>
              </a:ext>
            </a:extLst>
          </p:cNvPr>
          <p:cNvSpPr/>
          <p:nvPr/>
        </p:nvSpPr>
        <p:spPr>
          <a:xfrm>
            <a:off x="8788588" y="5025414"/>
            <a:ext cx="2613236" cy="913805"/>
          </a:xfrm>
          <a:prstGeom prst="roundRect">
            <a:avLst>
              <a:gd name="adj" fmla="val 12008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US" sz="16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64" name="Image 26" descr="preencoded.png">
            <a:extLst>
              <a:ext uri="{FF2B5EF4-FFF2-40B4-BE49-F238E27FC236}">
                <a16:creationId xmlns:a16="http://schemas.microsoft.com/office/drawing/2014/main" id="{D3173D64-5A2F-1BD9-BA7A-70C8979A392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65728" y="5025414"/>
            <a:ext cx="85479" cy="913805"/>
          </a:xfrm>
          <a:prstGeom prst="rect">
            <a:avLst/>
          </a:prstGeom>
        </p:spPr>
      </p:pic>
      <p:sp>
        <p:nvSpPr>
          <p:cNvPr id="165" name="Text 42">
            <a:extLst>
              <a:ext uri="{FF2B5EF4-FFF2-40B4-BE49-F238E27FC236}">
                <a16:creationId xmlns:a16="http://schemas.microsoft.com/office/drawing/2014/main" id="{11AC9BAD-90A8-6788-CAD8-79EBB07B4D92}"/>
              </a:ext>
            </a:extLst>
          </p:cNvPr>
          <p:cNvSpPr/>
          <p:nvPr/>
        </p:nvSpPr>
        <p:spPr>
          <a:xfrm>
            <a:off x="9005687" y="5438333"/>
            <a:ext cx="1952553" cy="26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dirty="0">
                <a:solidFill>
                  <a:srgbClr val="384653"/>
                </a:solidFill>
                <a:latin typeface="+mj-lt"/>
                <a:ea typeface="Barlow Bold" pitchFamily="34" charset="-122"/>
                <a:cs typeface="Barlow Bold" pitchFamily="34" charset="-120"/>
              </a:rPr>
              <a:t>Web Scraping</a:t>
            </a:r>
            <a:endParaRPr lang="en-US" sz="14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166" name="Text 43">
            <a:extLst>
              <a:ext uri="{FF2B5EF4-FFF2-40B4-BE49-F238E27FC236}">
                <a16:creationId xmlns:a16="http://schemas.microsoft.com/office/drawing/2014/main" id="{818B1FBA-AE8B-8A8B-0557-8D3A33199E0D}"/>
              </a:ext>
            </a:extLst>
          </p:cNvPr>
          <p:cNvSpPr/>
          <p:nvPr/>
        </p:nvSpPr>
        <p:spPr>
          <a:xfrm>
            <a:off x="9005688" y="5141129"/>
            <a:ext cx="1740081" cy="583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0"/>
              </a:lnSpc>
            </a:pPr>
            <a:r>
              <a:rPr lang="en-US" sz="16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ScrapingBee</a:t>
            </a:r>
            <a:endParaRPr lang="en-US" sz="16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67" name="Picture 166">
            <a:extLst>
              <a:ext uri="{FF2B5EF4-FFF2-40B4-BE49-F238E27FC236}">
                <a16:creationId xmlns:a16="http://schemas.microsoft.com/office/drawing/2014/main" id="{C6B558AE-27C7-C3DB-0CE4-3ABA86461BF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97026" y="6427159"/>
            <a:ext cx="1242139" cy="31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3437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33F3D-106C-AB76-0141-107EB91C1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3">
            <a:extLst>
              <a:ext uri="{FF2B5EF4-FFF2-40B4-BE49-F238E27FC236}">
                <a16:creationId xmlns:a16="http://schemas.microsoft.com/office/drawing/2014/main" id="{88F7F5B6-DA68-4E35-4721-7447D4F761FB}"/>
              </a:ext>
            </a:extLst>
          </p:cNvPr>
          <p:cNvSpPr txBox="1">
            <a:spLocks/>
          </p:cNvSpPr>
          <p:nvPr/>
        </p:nvSpPr>
        <p:spPr>
          <a:xfrm>
            <a:off x="580944" y="279545"/>
            <a:ext cx="8199435" cy="738664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GB" sz="4800" b="1" dirty="0">
                <a:solidFill>
                  <a:srgbClr val="002060"/>
                </a:solidFill>
                <a:latin typeface="Poppins SemiBold"/>
                <a:cs typeface="Poppins SemiBold"/>
              </a:rPr>
              <a:t>Unstructured.io</a:t>
            </a:r>
            <a:endParaRPr lang="en-US" sz="4800" b="1" dirty="0">
              <a:solidFill>
                <a:srgbClr val="002060"/>
              </a:solidFill>
              <a:latin typeface="Poppins SemiBold"/>
              <a:cs typeface="Poppins SemiBold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02FED75-F656-6CA4-4FBF-E1ACFE78CE10}"/>
              </a:ext>
            </a:extLst>
          </p:cNvPr>
          <p:cNvCxnSpPr>
            <a:cxnSpLocks/>
          </p:cNvCxnSpPr>
          <p:nvPr/>
        </p:nvCxnSpPr>
        <p:spPr>
          <a:xfrm>
            <a:off x="608249" y="1165943"/>
            <a:ext cx="1274212" cy="0"/>
          </a:xfrm>
          <a:prstGeom prst="line">
            <a:avLst/>
          </a:prstGeom>
          <a:ln w="63500">
            <a:solidFill>
              <a:srgbClr val="FF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ue and black logo&#10;&#10;Description automatically generated">
            <a:extLst>
              <a:ext uri="{FF2B5EF4-FFF2-40B4-BE49-F238E27FC236}">
                <a16:creationId xmlns:a16="http://schemas.microsoft.com/office/drawing/2014/main" id="{C2870B90-4BD0-582A-2747-56A74610415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10390" r="110" b="64505"/>
          <a:stretch/>
        </p:blipFill>
        <p:spPr>
          <a:xfrm rot="10800000">
            <a:off x="9118162" y="0"/>
            <a:ext cx="3073838" cy="1199660"/>
          </a:xfrm>
          <a:prstGeom prst="rect">
            <a:avLst/>
          </a:prstGeom>
        </p:spPr>
      </p:pic>
      <p:pic>
        <p:nvPicPr>
          <p:cNvPr id="7" name="Picture 6" descr="A red and black logo&#10;&#10;Description automatically generated">
            <a:extLst>
              <a:ext uri="{FF2B5EF4-FFF2-40B4-BE49-F238E27FC236}">
                <a16:creationId xmlns:a16="http://schemas.microsoft.com/office/drawing/2014/main" id="{2E70C747-5F06-AC66-9101-6A1D840B7A9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 amt="15000"/>
          </a:blip>
          <a:srcRect l="-6138" t="59481" r="-23904" b="-96101"/>
          <a:stretch/>
        </p:blipFill>
        <p:spPr>
          <a:xfrm rot="10800000">
            <a:off x="-376511" y="4527014"/>
            <a:ext cx="2234014" cy="230968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988EF0B-E870-A05B-07E9-33FA0F86CA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1711" y="6108901"/>
            <a:ext cx="1764188" cy="4499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CD19729-0225-23B6-160B-F411118208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291" y="2812613"/>
            <a:ext cx="1274212" cy="1232774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4F25324-EABC-E840-04C1-958B55F19C5E}"/>
              </a:ext>
            </a:extLst>
          </p:cNvPr>
          <p:cNvSpPr/>
          <p:nvPr/>
        </p:nvSpPr>
        <p:spPr>
          <a:xfrm>
            <a:off x="5290072" y="2249033"/>
            <a:ext cx="3242932" cy="2309689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partition_pdf(</a:t>
            </a:r>
          </a:p>
          <a:p>
            <a:r>
              <a:rPr lang="en-US" dirty="0"/>
              <a:t>strategy="hi_res",</a:t>
            </a:r>
          </a:p>
          <a:p>
            <a:r>
              <a:rPr lang="en-US" dirty="0"/>
              <a:t>infer_table_structure=True,</a:t>
            </a:r>
          </a:p>
          <a:p>
            <a:r>
              <a:rPr lang="en-US" dirty="0"/>
              <a:t>extract_image_block_types=["image"],</a:t>
            </a:r>
          </a:p>
          <a:p>
            <a:r>
              <a:rPr lang="en-US" dirty="0"/>
              <a:t>extract_image_block_to_payload=True)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8C6477F-DC20-D4AA-0269-7179CCDBAD97}"/>
              </a:ext>
            </a:extLst>
          </p:cNvPr>
          <p:cNvSpPr/>
          <p:nvPr/>
        </p:nvSpPr>
        <p:spPr>
          <a:xfrm>
            <a:off x="9582713" y="2483237"/>
            <a:ext cx="1984577" cy="163899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r>
              <a:rPr lang="en-US" dirty="0"/>
              <a:t>Method:</a:t>
            </a:r>
          </a:p>
          <a:p>
            <a:r>
              <a:rPr lang="en-US" dirty="0"/>
              <a:t>unstructured.</a:t>
            </a:r>
          </a:p>
          <a:p>
            <a:r>
              <a:rPr lang="en-US" dirty="0"/>
              <a:t>chunking.</a:t>
            </a:r>
          </a:p>
          <a:p>
            <a:r>
              <a:rPr lang="en-US" dirty="0"/>
              <a:t>title.</a:t>
            </a:r>
          </a:p>
          <a:p>
            <a:r>
              <a:rPr lang="en-US" dirty="0" err="1"/>
              <a:t>chunk_by_title</a:t>
            </a:r>
            <a:endParaRPr lang="en-US" dirty="0"/>
          </a:p>
          <a:p>
            <a:pPr algn="ctr"/>
            <a:endParaRPr lang="en-US" dirty="0"/>
          </a:p>
        </p:txBody>
      </p:sp>
      <p:pic>
        <p:nvPicPr>
          <p:cNvPr id="1026" name="Picture 2" descr="Unstructured Logo Free Download SVG ...">
            <a:extLst>
              <a:ext uri="{FF2B5EF4-FFF2-40B4-BE49-F238E27FC236}">
                <a16:creationId xmlns:a16="http://schemas.microsoft.com/office/drawing/2014/main" id="{300085FC-CDE7-A01F-F8AC-CE3030C49E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6151" y="2887927"/>
            <a:ext cx="1274212" cy="1274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2440A02-89DC-F5C9-8A83-4AE1580C2F02}"/>
              </a:ext>
            </a:extLst>
          </p:cNvPr>
          <p:cNvSpPr txBox="1"/>
          <p:nvPr/>
        </p:nvSpPr>
        <p:spPr>
          <a:xfrm>
            <a:off x="505316" y="4408290"/>
            <a:ext cx="16814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Temp folder containing files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9446C479-8100-CA4B-3697-6C28484B9C04}"/>
              </a:ext>
            </a:extLst>
          </p:cNvPr>
          <p:cNvSpPr/>
          <p:nvPr/>
        </p:nvSpPr>
        <p:spPr>
          <a:xfrm>
            <a:off x="1882461" y="3282723"/>
            <a:ext cx="978408" cy="24231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37A6DB6D-DE74-469E-5BB5-0AD7C51FBD7E}"/>
              </a:ext>
            </a:extLst>
          </p:cNvPr>
          <p:cNvSpPr/>
          <p:nvPr/>
        </p:nvSpPr>
        <p:spPr>
          <a:xfrm>
            <a:off x="4345645" y="3282723"/>
            <a:ext cx="839145" cy="252536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2654D7C7-2DE6-9985-EADF-8595D1E22EDC}"/>
              </a:ext>
            </a:extLst>
          </p:cNvPr>
          <p:cNvSpPr/>
          <p:nvPr/>
        </p:nvSpPr>
        <p:spPr>
          <a:xfrm>
            <a:off x="8638286" y="3176464"/>
            <a:ext cx="839145" cy="252536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2BE705-8FB7-517A-461E-14FC9D3AAE10}"/>
              </a:ext>
            </a:extLst>
          </p:cNvPr>
          <p:cNvSpPr txBox="1"/>
          <p:nvPr/>
        </p:nvSpPr>
        <p:spPr>
          <a:xfrm>
            <a:off x="6096000" y="1781134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Partition File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B8D37B-03B1-4D1C-F27A-65B6CAF55410}"/>
              </a:ext>
            </a:extLst>
          </p:cNvPr>
          <p:cNvSpPr txBox="1"/>
          <p:nvPr/>
        </p:nvSpPr>
        <p:spPr>
          <a:xfrm>
            <a:off x="9718158" y="2003396"/>
            <a:ext cx="1549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Chunk by title</a:t>
            </a:r>
          </a:p>
        </p:txBody>
      </p:sp>
    </p:spTree>
    <p:extLst>
      <p:ext uri="{BB962C8B-B14F-4D97-AF65-F5344CB8AC3E}">
        <p14:creationId xmlns:p14="http://schemas.microsoft.com/office/powerpoint/2010/main" val="7626449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C1468-3552-8E83-F9A7-49B38FBDF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6B63E77-0DF8-76C7-7916-1B93E8E7D220}"/>
              </a:ext>
            </a:extLst>
          </p:cNvPr>
          <p:cNvSpPr txBox="1">
            <a:spLocks/>
          </p:cNvSpPr>
          <p:nvPr/>
        </p:nvSpPr>
        <p:spPr>
          <a:xfrm>
            <a:off x="285701" y="189250"/>
            <a:ext cx="10309411" cy="7251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5000"/>
              </a:lnSpc>
            </a:pPr>
            <a:r>
              <a:rPr lang="en-US" sz="3000" b="1" dirty="0">
                <a:latin typeface="Poppins SemiBold"/>
                <a:ea typeface="+mj-lt"/>
                <a:cs typeface="Poppins SemiBold"/>
              </a:rPr>
              <a:t>  Architecture</a:t>
            </a:r>
          </a:p>
          <a:p>
            <a:pPr>
              <a:lnSpc>
                <a:spcPct val="125000"/>
              </a:lnSpc>
            </a:pPr>
            <a:endParaRPr lang="en-US" sz="3000" b="1" dirty="0">
              <a:latin typeface="Poppins SemiBold"/>
              <a:cs typeface="Poppins SemiBold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1D044B1-E2A6-6160-E764-FD3A0229F91C}"/>
              </a:ext>
            </a:extLst>
          </p:cNvPr>
          <p:cNvCxnSpPr>
            <a:cxnSpLocks/>
          </p:cNvCxnSpPr>
          <p:nvPr/>
        </p:nvCxnSpPr>
        <p:spPr>
          <a:xfrm>
            <a:off x="405969" y="954704"/>
            <a:ext cx="1274212" cy="0"/>
          </a:xfrm>
          <a:prstGeom prst="line">
            <a:avLst/>
          </a:prstGeom>
          <a:ln w="63500">
            <a:solidFill>
              <a:srgbClr val="FF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04A37697-009A-D94B-9115-DDC450788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7026" y="6427159"/>
            <a:ext cx="1242139" cy="3167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7FAA45-0A52-65C9-9777-577259834D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1" y="1213823"/>
            <a:ext cx="11004177" cy="5022642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0E7027-8269-DC77-E51E-4FC839A4C142}"/>
              </a:ext>
            </a:extLst>
          </p:cNvPr>
          <p:cNvCxnSpPr>
            <a:cxnSpLocks/>
          </p:cNvCxnSpPr>
          <p:nvPr/>
        </p:nvCxnSpPr>
        <p:spPr>
          <a:xfrm>
            <a:off x="558369" y="1107104"/>
            <a:ext cx="1274212" cy="0"/>
          </a:xfrm>
          <a:prstGeom prst="line">
            <a:avLst/>
          </a:prstGeom>
          <a:ln w="63500">
            <a:solidFill>
              <a:srgbClr val="FF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0917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35F41-CEAE-E42B-B680-2977427AC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B287F0B-0EA7-C0BA-1E72-D3006977DD4D}"/>
              </a:ext>
            </a:extLst>
          </p:cNvPr>
          <p:cNvSpPr txBox="1">
            <a:spLocks/>
          </p:cNvSpPr>
          <p:nvPr/>
        </p:nvSpPr>
        <p:spPr>
          <a:xfrm>
            <a:off x="285701" y="189250"/>
            <a:ext cx="10309411" cy="7251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5000"/>
              </a:lnSpc>
            </a:pPr>
            <a:r>
              <a:rPr lang="en-US" sz="3000" b="1" dirty="0">
                <a:latin typeface="Poppins SemiBold"/>
                <a:ea typeface="+mj-lt"/>
                <a:cs typeface="Poppins SemiBold"/>
              </a:rPr>
              <a:t>  </a:t>
            </a:r>
          </a:p>
          <a:p>
            <a:pPr>
              <a:lnSpc>
                <a:spcPct val="125000"/>
              </a:lnSpc>
            </a:pPr>
            <a:endParaRPr lang="en-US" sz="3000" b="1" dirty="0">
              <a:latin typeface="Poppins SemiBold"/>
              <a:cs typeface="Poppins SemiBold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C6C3F3-A3D2-8938-C321-0BD33ED17E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309" y="0"/>
            <a:ext cx="102773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200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62626">
                <a:alpha val="0"/>
              </a:srgbClr>
            </a:gs>
            <a:gs pos="100000">
              <a:srgbClr val="0F72B1">
                <a:alpha val="13000"/>
              </a:srgbClr>
            </a:gs>
          </a:gsLst>
          <a:lin ang="189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78FAB4-5080-E87C-400F-3CD5310D5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3">
            <a:extLst>
              <a:ext uri="{FF2B5EF4-FFF2-40B4-BE49-F238E27FC236}">
                <a16:creationId xmlns:a16="http://schemas.microsoft.com/office/drawing/2014/main" id="{745ECEDC-E6D6-3F59-1283-9F9CD499CF4A}"/>
              </a:ext>
            </a:extLst>
          </p:cNvPr>
          <p:cNvSpPr txBox="1">
            <a:spLocks/>
          </p:cNvSpPr>
          <p:nvPr/>
        </p:nvSpPr>
        <p:spPr>
          <a:xfrm>
            <a:off x="1913828" y="2657983"/>
            <a:ext cx="8199435" cy="738664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GB" sz="4800" b="1" dirty="0">
                <a:solidFill>
                  <a:srgbClr val="002060"/>
                </a:solidFill>
                <a:latin typeface="Poppins SemiBold"/>
                <a:cs typeface="Poppins SemiBold"/>
              </a:rPr>
              <a:t>Thank you!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7F94A58-0F5B-71C6-2F50-55F61472A308}"/>
              </a:ext>
            </a:extLst>
          </p:cNvPr>
          <p:cNvCxnSpPr>
            <a:cxnSpLocks/>
          </p:cNvCxnSpPr>
          <p:nvPr/>
        </p:nvCxnSpPr>
        <p:spPr>
          <a:xfrm>
            <a:off x="1959548" y="3421994"/>
            <a:ext cx="1274212" cy="0"/>
          </a:xfrm>
          <a:prstGeom prst="line">
            <a:avLst/>
          </a:prstGeom>
          <a:ln w="63500">
            <a:solidFill>
              <a:srgbClr val="FF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ue and black logo&#10;&#10;Description automatically generated">
            <a:extLst>
              <a:ext uri="{FF2B5EF4-FFF2-40B4-BE49-F238E27FC236}">
                <a16:creationId xmlns:a16="http://schemas.microsoft.com/office/drawing/2014/main" id="{FCCD5743-3DA2-B557-BDD8-EB923A5C007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10390" r="110" b="64505"/>
          <a:stretch/>
        </p:blipFill>
        <p:spPr>
          <a:xfrm rot="10800000">
            <a:off x="9118162" y="0"/>
            <a:ext cx="3073838" cy="1199660"/>
          </a:xfrm>
          <a:prstGeom prst="rect">
            <a:avLst/>
          </a:prstGeom>
        </p:spPr>
      </p:pic>
      <p:pic>
        <p:nvPicPr>
          <p:cNvPr id="7" name="Picture 6" descr="A red and black logo&#10;&#10;Description automatically generated">
            <a:extLst>
              <a:ext uri="{FF2B5EF4-FFF2-40B4-BE49-F238E27FC236}">
                <a16:creationId xmlns:a16="http://schemas.microsoft.com/office/drawing/2014/main" id="{EE659493-2796-F271-58B2-EBC26B192F9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 amt="15000"/>
          </a:blip>
          <a:srcRect l="-6138" t="59481" r="-23904" b="-96101"/>
          <a:stretch/>
        </p:blipFill>
        <p:spPr>
          <a:xfrm rot="10800000">
            <a:off x="-619310" y="2973285"/>
            <a:ext cx="3757437" cy="388471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FD5ECAC-01EA-B025-CAB9-8E62C3175A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1711" y="6108901"/>
            <a:ext cx="1764188" cy="44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123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2A5C3E4EF4814AAF65F81B077DE83D" ma:contentTypeVersion="11" ma:contentTypeDescription="Create a new document." ma:contentTypeScope="" ma:versionID="6325b29f7f878f3c8e7ab83c0ebcbc2f">
  <xsd:schema xmlns:xsd="http://www.w3.org/2001/XMLSchema" xmlns:xs="http://www.w3.org/2001/XMLSchema" xmlns:p="http://schemas.microsoft.com/office/2006/metadata/properties" xmlns:ns2="598abb26-c6cb-459b-a7fc-49329d28a11c" xmlns:ns3="aea47c9f-872d-46ff-8725-66e2531f794b" targetNamespace="http://schemas.microsoft.com/office/2006/metadata/properties" ma:root="true" ma:fieldsID="fb132bac972458590f9f04eba00a0ef2" ns2:_="" ns3:_="">
    <xsd:import namespace="598abb26-c6cb-459b-a7fc-49329d28a11c"/>
    <xsd:import namespace="aea47c9f-872d-46ff-8725-66e2531f794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8abb26-c6cb-459b-a7fc-49329d28a1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0a6c60c-f6e6-43e7-bb89-cf8f34f76af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a47c9f-872d-46ff-8725-66e2531f794b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53e2dcb6-2e79-4815-b1f0-17c072a6ef74}" ma:internalName="TaxCatchAll" ma:showField="CatchAllData" ma:web="aea47c9f-872d-46ff-8725-66e2531f794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98abb26-c6cb-459b-a7fc-49329d28a11c">
      <Terms xmlns="http://schemas.microsoft.com/office/infopath/2007/PartnerControls"/>
    </lcf76f155ced4ddcb4097134ff3c332f>
    <TaxCatchAll xmlns="aea47c9f-872d-46ff-8725-66e2531f794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3114BC0-D301-4C69-AEA7-459F367B8812}"/>
</file>

<file path=customXml/itemProps2.xml><?xml version="1.0" encoding="utf-8"?>
<ds:datastoreItem xmlns:ds="http://schemas.openxmlformats.org/officeDocument/2006/customXml" ds:itemID="{2502A96A-C8D1-4CD9-89F2-51FC5843EE3A}">
  <ds:schemaRefs>
    <ds:schemaRef ds:uri="http://schemas.microsoft.com/office/2006/metadata/properties"/>
    <ds:schemaRef ds:uri="http://schemas.microsoft.com/office/infopath/2007/PartnerControls"/>
    <ds:schemaRef ds:uri="598abb26-c6cb-459b-a7fc-49329d28a11c"/>
    <ds:schemaRef ds:uri="aea47c9f-872d-46ff-8725-66e2531f794b"/>
  </ds:schemaRefs>
</ds:datastoreItem>
</file>

<file path=customXml/itemProps3.xml><?xml version="1.0" encoding="utf-8"?>
<ds:datastoreItem xmlns:ds="http://schemas.openxmlformats.org/officeDocument/2006/customXml" ds:itemID="{77FCFDBA-DAF8-4F88-B421-847CC97967E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648ca8d9-38e9-44ca-bc27-20e5a79ee859}" enabled="0" method="" siteId="{648ca8d9-38e9-44ca-bc27-20e5a79ee85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249</Words>
  <Application>Microsoft Office PowerPoint</Application>
  <PresentationFormat>Widescreen</PresentationFormat>
  <Paragraphs>68</Paragraphs>
  <Slides>8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Alankar Mandava</dc:creator>
  <cp:lastModifiedBy>Alankar Mandava</cp:lastModifiedBy>
  <cp:revision>50</cp:revision>
  <dcterms:created xsi:type="dcterms:W3CDTF">2025-09-12T13:13:56Z</dcterms:created>
  <dcterms:modified xsi:type="dcterms:W3CDTF">2026-02-18T07:09:00Z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0x0101008C2A5C3E4EF4814AAF65F81B077DE83D</vt:lpwstr>
  </property>
  <property fmtid="{D5CDD505-2E9C-101B-9397-08002B2CF9AE}" pid="3" name="MediaServiceImageTags">
    <vt:lpwstr/>
  </property>
</Properties>
</file>